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957D8"/>
          </a:solidFill>
          <a:ln w="12700">
            <a:solidFill>
              <a:srgbClr val="2957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1568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Multifort Interativo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646920" y="6615684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DCE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Apresentação do projeto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56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56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5B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6537960"/>
            <a:ext cx="4389120" cy="-5486400"/>
          </a:xfrm>
          <a:prstGeom prst="line">
            <a:avLst/>
          </a:prstGeom>
          <a:noFill/>
          <a:ln w="15240">
            <a:solidFill>
              <a:srgbClr val="5F84EC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54480" y="6537960"/>
            <a:ext cx="4389120" cy="-5486400"/>
          </a:xfrm>
          <a:prstGeom prst="line">
            <a:avLst/>
          </a:prstGeom>
          <a:noFill/>
          <a:ln w="15240">
            <a:solidFill>
              <a:srgbClr val="5F84EC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0" y="6537960"/>
            <a:ext cx="4389120" cy="-5486400"/>
          </a:xfrm>
          <a:prstGeom prst="line">
            <a:avLst/>
          </a:prstGeom>
          <a:noFill/>
          <a:ln w="15240">
            <a:solidFill>
              <a:srgbClr val="5F84EC">
                <a:alpha val="2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0" y="6537960"/>
            <a:ext cx="4389120" cy="-5486400"/>
          </a:xfrm>
          <a:prstGeom prst="line">
            <a:avLst/>
          </a:prstGeom>
          <a:noFill/>
          <a:ln w="15240">
            <a:solidFill>
              <a:srgbClr val="5F84EC">
                <a:alpha val="2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0" y="6537960"/>
            <a:ext cx="4389120" cy="-5486400"/>
          </a:xfrm>
          <a:prstGeom prst="line">
            <a:avLst/>
          </a:prstGeom>
          <a:noFill/>
          <a:ln w="15240">
            <a:solidFill>
              <a:srgbClr val="5F84EC">
                <a:alpha val="2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0" y="6537960"/>
            <a:ext cx="4389120" cy="-5486400"/>
          </a:xfrm>
          <a:prstGeom prst="line">
            <a:avLst/>
          </a:prstGeom>
          <a:noFill/>
          <a:ln w="15240">
            <a:solidFill>
              <a:srgbClr val="5F84EC">
                <a:alpha val="2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12880" y="6537960"/>
            <a:ext cx="4389120" cy="-5486400"/>
          </a:xfrm>
          <a:prstGeom prst="line">
            <a:avLst/>
          </a:prstGeom>
          <a:noFill/>
          <a:ln w="15240">
            <a:solidFill>
              <a:srgbClr val="5F84EC">
                <a:alpha val="2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0" y="-1188720"/>
            <a:ext cx="6217920" cy="6217920"/>
          </a:xfrm>
          <a:prstGeom prst="ellipse">
            <a:avLst/>
          </a:prstGeom>
          <a:solidFill>
            <a:srgbClr val="456EE6">
              <a:alpha val="65000"/>
            </a:srgbClr>
          </a:solidFill>
          <a:ln w="12700">
            <a:solidFill>
              <a:srgbClr val="456EE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15400" y="-182880"/>
            <a:ext cx="2743200" cy="2743200"/>
          </a:xfrm>
          <a:prstGeom prst="ellipse">
            <a:avLst/>
          </a:prstGeom>
          <a:solidFill>
            <a:srgbClr val="88A6F6">
              <a:alpha val="55000"/>
            </a:srgbClr>
          </a:solidFill>
          <a:ln w="12700">
            <a:solidFill>
              <a:srgbClr val="88A6F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502920"/>
            <a:ext cx="189281" cy="189281"/>
          </a:xfrm>
          <a:prstGeom prst="sun">
            <a:avLst/>
          </a:prstGeom>
          <a:solidFill>
            <a:srgbClr val="FDBA00"/>
          </a:solidFill>
          <a:ln w="12700">
            <a:solidFill>
              <a:srgbClr val="FDBA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6734" y="497662"/>
            <a:ext cx="1472184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95" b="1" dirty="0">
                <a:solidFill>
                  <a:srgbClr val="2D5BE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Multifort</a:t>
            </a:r>
            <a:endParaRPr lang="en-US" sz="1495" dirty="0"/>
          </a:p>
        </p:txBody>
      </p:sp>
      <p:sp>
        <p:nvSpPr>
          <p:cNvPr id="14" name="Shape 12"/>
          <p:cNvSpPr/>
          <p:nvPr/>
        </p:nvSpPr>
        <p:spPr>
          <a:xfrm>
            <a:off x="640080" y="1325880"/>
            <a:ext cx="2633472" cy="301752"/>
          </a:xfrm>
          <a:prstGeom prst="roundRect">
            <a:avLst>
              <a:gd name="adj" fmla="val 24242"/>
            </a:avLst>
          </a:prstGeom>
          <a:solidFill>
            <a:srgbClr val="355FE2"/>
          </a:solidFill>
          <a:ln w="12700">
            <a:solidFill>
              <a:srgbClr val="355F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1385316"/>
            <a:ext cx="2450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 ANGULAR • ENERGIA SOLAR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621792" y="1874520"/>
            <a:ext cx="5852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Multifort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Interativo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58368" y="3611880"/>
            <a:ext cx="5074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Simulação de energia solar, organização de leads e encaminhamento de oportunidades para vendedores.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58368" y="4645152"/>
            <a:ext cx="1783080" cy="420624"/>
          </a:xfrm>
          <a:prstGeom prst="roundRect">
            <a:avLst>
              <a:gd name="adj" fmla="val 17391"/>
            </a:avLst>
          </a:prstGeom>
          <a:solidFill>
            <a:srgbClr val="FDBA00"/>
          </a:solidFill>
          <a:ln w="12700">
            <a:solidFill>
              <a:srgbClr val="FDBA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475945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5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Apresentação do projeto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658368" y="533095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DCE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Angular com mocks e persistência local</a:t>
            </a:r>
            <a:endParaRPr lang="en-US" sz="1060" dirty="0"/>
          </a:p>
        </p:txBody>
      </p:sp>
      <p:sp>
        <p:nvSpPr>
          <p:cNvPr id="21" name="Text 19"/>
          <p:cNvSpPr/>
          <p:nvPr/>
        </p:nvSpPr>
        <p:spPr>
          <a:xfrm>
            <a:off x="658368" y="56235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FDB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minutos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7406640" y="2011680"/>
            <a:ext cx="3858768" cy="2304288"/>
          </a:xfrm>
          <a:prstGeom prst="roundRect">
            <a:avLst>
              <a:gd name="adj" fmla="val 3968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26680" y="233172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F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SIMULAÇÃO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699248" y="2679192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95%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9052560" y="283464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economia estimada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setup ideal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7726680" y="3529584"/>
            <a:ext cx="3200400" cy="0"/>
          </a:xfrm>
          <a:prstGeom prst="line">
            <a:avLst/>
          </a:prstGeom>
          <a:noFill/>
          <a:ln w="12700">
            <a:solidFill>
              <a:srgbClr val="AFC4FF">
                <a:alpha val="5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26680" y="374904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PDF  →  análise simulada  →  seleção do setup</a:t>
            </a:r>
            <a:endParaRPr lang="en-US" sz="9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56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56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02920" y="4114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C304F"/>
                </a:solidFill>
                <a:latin typeface="Aptos Display"/>
              </a:rPr>
              <a:t>Roteiro da apresentação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859536"/>
            <a:ext cx="10698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F79AA"/>
                </a:solidFill>
                <a:latin typeface="Aptos"/>
              </a:rPr>
              <a:t>Visão geral da demonstração e da estrutura técnica do projeto.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1225296"/>
            <a:ext cx="11201400" cy="13716"/>
          </a:xfrm>
          <a:prstGeom prst="rect">
            <a:avLst/>
          </a:prstGeom>
          <a:solidFill>
            <a:srgbClr val="D0DCF3"/>
          </a:solidFill>
          <a:ln>
            <a:solidFill>
              <a:srgbClr val="D0D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2011680"/>
            <a:ext cx="2148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1520" y="2212848"/>
            <a:ext cx="438912" cy="438912"/>
          </a:xfrm>
          <a:prstGeom prst="ellipse">
            <a:avLst/>
          </a:prstGeom>
          <a:solidFill>
            <a:srgbClr val="2D5BE3"/>
          </a:solidFill>
          <a:ln>
            <a:solidFill>
              <a:srgbClr val="2D5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2807208"/>
            <a:ext cx="180136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C304F"/>
                </a:solidFill>
                <a:latin typeface="Aptos Display"/>
              </a:rPr>
              <a:t>Visão geral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3429000"/>
            <a:ext cx="180136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 i="0">
                <a:solidFill>
                  <a:srgbClr val="5F79AA"/>
                </a:solidFill>
                <a:latin typeface="Aptos"/>
              </a:rPr>
              <a:t>Objetivo e proposta
da plataforma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843784" y="2011680"/>
            <a:ext cx="2148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026664" y="2212848"/>
            <a:ext cx="438912" cy="438912"/>
          </a:xfrm>
          <a:prstGeom prst="ellipse">
            <a:avLst/>
          </a:prstGeom>
          <a:solidFill>
            <a:srgbClr val="2D5BE3"/>
          </a:solidFill>
          <a:ln>
            <a:solidFill>
              <a:srgbClr val="2D5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26664" y="2807208"/>
            <a:ext cx="180136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C304F"/>
                </a:solidFill>
                <a:latin typeface="Aptos Display"/>
              </a:rPr>
              <a:t>Demonstração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26664" y="3429000"/>
            <a:ext cx="180136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 i="0">
                <a:solidFill>
                  <a:srgbClr val="5F79AA"/>
                </a:solidFill>
                <a:latin typeface="Aptos"/>
              </a:rPr>
              <a:t>Landing page, login
e simulação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38928" y="2011680"/>
            <a:ext cx="2148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321808" y="2212848"/>
            <a:ext cx="438912" cy="438912"/>
          </a:xfrm>
          <a:prstGeom prst="ellipse">
            <a:avLst/>
          </a:prstGeom>
          <a:solidFill>
            <a:srgbClr val="2D5BE3"/>
          </a:solidFill>
          <a:ln>
            <a:solidFill>
              <a:srgbClr val="2D5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21808" y="2807208"/>
            <a:ext cx="180136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C304F"/>
                </a:solidFill>
                <a:latin typeface="Aptos Display"/>
              </a:rPr>
              <a:t>Arquitetura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21808" y="3429000"/>
            <a:ext cx="180136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 i="0">
                <a:solidFill>
                  <a:srgbClr val="5F79AA"/>
                </a:solidFill>
                <a:latin typeface="Aptos"/>
              </a:rPr>
              <a:t>Tecnologias, pastas,
services e modelos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34072" y="2011680"/>
            <a:ext cx="2148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616952" y="2212848"/>
            <a:ext cx="438912" cy="438912"/>
          </a:xfrm>
          <a:prstGeom prst="ellipse">
            <a:avLst/>
          </a:prstGeom>
          <a:solidFill>
            <a:srgbClr val="2D5BE3"/>
          </a:solidFill>
          <a:ln>
            <a:solidFill>
              <a:srgbClr val="2D5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16952" y="2807208"/>
            <a:ext cx="180136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C304F"/>
                </a:solidFill>
                <a:latin typeface="Aptos Display"/>
              </a:rPr>
              <a:t>Segurança e fluxo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16952" y="3429000"/>
            <a:ext cx="180136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 i="0">
                <a:solidFill>
                  <a:srgbClr val="5F79AA"/>
                </a:solidFill>
                <a:latin typeface="Aptos"/>
              </a:rPr>
              <a:t>Roles, guards, persistência
e distribuição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29216" y="2011680"/>
            <a:ext cx="2148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912096" y="2212848"/>
            <a:ext cx="438912" cy="438912"/>
          </a:xfrm>
          <a:prstGeom prst="ellipse">
            <a:avLst/>
          </a:prstGeom>
          <a:solidFill>
            <a:srgbClr val="2D5BE3"/>
          </a:solidFill>
          <a:ln>
            <a:solidFill>
              <a:srgbClr val="2D5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12096" y="2807208"/>
            <a:ext cx="180136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C304F"/>
                </a:solidFill>
                <a:latin typeface="Aptos Display"/>
              </a:rPr>
              <a:t>Encerramento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12096" y="3429000"/>
            <a:ext cx="180136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 i="0">
                <a:solidFill>
                  <a:srgbClr val="5F79AA"/>
                </a:solidFill>
                <a:latin typeface="Aptos"/>
              </a:rPr>
              <a:t>Limitações e
próximos passos</a:t>
            </a:r>
          </a:p>
        </p:txBody>
      </p:sp>
      <p:sp>
        <p:nvSpPr>
          <p:cNvPr id="49" name="Chevron 48"/>
          <p:cNvSpPr/>
          <p:nvPr/>
        </p:nvSpPr>
        <p:spPr>
          <a:xfrm>
            <a:off x="2724912" y="2944368"/>
            <a:ext cx="100584" cy="146304"/>
          </a:xfrm>
          <a:prstGeom prst="chevron">
            <a:avLst/>
          </a:prstGeom>
          <a:solidFill>
            <a:srgbClr val="FFB800"/>
          </a:solidFill>
          <a:ln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hevron 49"/>
          <p:cNvSpPr/>
          <p:nvPr/>
        </p:nvSpPr>
        <p:spPr>
          <a:xfrm>
            <a:off x="5020056" y="2944368"/>
            <a:ext cx="100584" cy="146304"/>
          </a:xfrm>
          <a:prstGeom prst="chevron">
            <a:avLst/>
          </a:prstGeom>
          <a:solidFill>
            <a:srgbClr val="FFB800"/>
          </a:solidFill>
          <a:ln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hevron 50"/>
          <p:cNvSpPr/>
          <p:nvPr/>
        </p:nvSpPr>
        <p:spPr>
          <a:xfrm>
            <a:off x="7315200" y="2944368"/>
            <a:ext cx="100584" cy="146304"/>
          </a:xfrm>
          <a:prstGeom prst="chevron">
            <a:avLst/>
          </a:prstGeom>
          <a:solidFill>
            <a:srgbClr val="FFB800"/>
          </a:solidFill>
          <a:ln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hevron 51"/>
          <p:cNvSpPr/>
          <p:nvPr/>
        </p:nvSpPr>
        <p:spPr>
          <a:xfrm>
            <a:off x="9610344" y="2944368"/>
            <a:ext cx="100584" cy="146304"/>
          </a:xfrm>
          <a:prstGeom prst="chevron">
            <a:avLst/>
          </a:prstGeom>
          <a:solidFill>
            <a:srgbClr val="FFB800"/>
          </a:solidFill>
          <a:ln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97280" y="4892040"/>
            <a:ext cx="9966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F79AA"/>
                </a:solidFill>
                <a:latin typeface="Aptos"/>
              </a:rPr>
              <a:t>A sequência também pode ser usada como roteiro de fala durante a apresentação.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2D5BE3"/>
          </a:solidFill>
          <a:ln>
            <a:solidFill>
              <a:srgbClr val="2D5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6656832"/>
            <a:ext cx="201168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ptos Display"/>
              </a:rPr>
              <a:t>Multifort Interativo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92640" y="6656832"/>
            <a:ext cx="196596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FFFFFF"/>
                </a:solidFill>
                <a:latin typeface="Aptos"/>
              </a:rPr>
              <a:t>Apresentação do projeto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722608" y="6652260"/>
            <a:ext cx="164592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é o Multifort Interativo?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plataforma web para transformar a fatura de energia em uma oportunidade comercial organizada.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201400" cy="0"/>
          </a:xfrm>
          <a:prstGeom prst="line">
            <a:avLst/>
          </a:prstGeom>
          <a:noFill/>
          <a:ln w="12700">
            <a:solidFill>
              <a:srgbClr val="D7E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  <a:effectLst>
            <a:outerShdw sx="100000" sy="100000" kx="0" ky="0" algn="bl" rotWithShape="0" blurRad="1.0657517203310059e+29" dist="6.3945103219860365e+28" dir="1.259712e+35">
              <a:srgbClr val="000000">
                <a:alpha val="1.2e+34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81051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463040" y="18105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B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PROPOSTA DE VALOR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265176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1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plataforma conduz o usuário da simulação ao encaminhamento comercial, com uma jornada simples e visual.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94944" y="3429000"/>
            <a:ext cx="470916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320" dirty="0">
                <a:solidFill>
                  <a:srgbClr val="21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 orçamentos de energia solar a partir de um PDF.</a:t>
            </a:r>
            <a:endParaRPr lang="en-US" sz="1320" dirty="0"/>
          </a:p>
          <a:p>
            <a:pPr marL="190500" indent="-190500">
              <a:buSzPct val="100000"/>
              <a:buChar char="•"/>
            </a:pPr>
            <a:r>
              <a:rPr lang="en-US" sz="1320" dirty="0">
                <a:solidFill>
                  <a:srgbClr val="21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Exibe alternativas de setups e indicadores de economia.</a:t>
            </a:r>
            <a:endParaRPr lang="en-US" sz="1320" dirty="0"/>
          </a:p>
          <a:p>
            <a:pPr marL="190500" indent="-190500">
              <a:buSzPct val="100000"/>
              <a:buChar char="•"/>
            </a:pPr>
            <a:r>
              <a:rPr lang="en-US" sz="1320" dirty="0">
                <a:solidFill>
                  <a:srgbClr val="21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 o histórico do cliente e distribui oportunidades para vendedores.</a:t>
            </a:r>
            <a:endParaRPr lang="en-US" sz="1320" dirty="0"/>
          </a:p>
          <a:p>
            <a:pPr marL="190500" indent="-190500">
              <a:buSzPct val="100000"/>
              <a:buChar char="•"/>
            </a:pPr>
            <a:r>
              <a:rPr lang="en-US" sz="1320" dirty="0">
                <a:solidFill>
                  <a:srgbClr val="21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Centraliza o funcionamento no frontend com mocks e localStorage.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5897880" y="2651760"/>
            <a:ext cx="1225296" cy="1536192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1.3535046848203775e+33" dist="8.121028108922266e+32" dir="7.558272e+39">
              <a:srgbClr val="000000">
                <a:alpha val="1.1999999999999999e+39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81928" y="2916936"/>
            <a:ext cx="457200" cy="457200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81928" y="3058668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16752" y="3566160"/>
            <a:ext cx="9875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Usuário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07608" y="38130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envia a fatura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7132320" y="3419856"/>
            <a:ext cx="173736" cy="0"/>
          </a:xfrm>
          <a:prstGeom prst="line">
            <a:avLst/>
          </a:prstGeom>
          <a:noFill/>
          <a:ln w="25400">
            <a:solidFill>
              <a:srgbClr val="95A8D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42632" y="2651760"/>
            <a:ext cx="1225296" cy="1536192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1.7189509497218795e+37" dist="1.0313705698331278e+37" dir="4.5349632000000006e+44">
              <a:srgbClr val="000000">
                <a:alpha val="1.1999999999999999e+44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26680" y="2916936"/>
            <a:ext cx="457200" cy="457200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26680" y="3058668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61504" y="3566160"/>
            <a:ext cx="9875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452360" y="38130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 a análise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8577072" y="3419856"/>
            <a:ext cx="173736" cy="0"/>
          </a:xfrm>
          <a:prstGeom prst="line">
            <a:avLst/>
          </a:prstGeom>
          <a:noFill/>
          <a:ln w="25400">
            <a:solidFill>
              <a:srgbClr val="95A8D0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787384" y="2651760"/>
            <a:ext cx="1225296" cy="1536192"/>
          </a:xfrm>
          <a:prstGeom prst="roundRect">
            <a:avLst>
              <a:gd name="adj" fmla="val 5970"/>
            </a:avLst>
          </a:prstGeom>
          <a:solidFill>
            <a:srgbClr val="FFF5D1"/>
          </a:solidFill>
          <a:ln w="12700">
            <a:solidFill>
              <a:srgbClr val="FDBA00"/>
            </a:solidFill>
            <a:prstDash val="solid"/>
          </a:ln>
          <a:effectLst>
            <a:outerShdw sx="100000" sy="100000" kx="0" ky="0" algn="bl" rotWithShape="0" blurRad="2.183067706146787e+41" dist="1.3098406236880722e+41" dir="2.72097792e+49">
              <a:srgbClr val="000000">
                <a:alpha val="1.2e+49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71432" y="2916936"/>
            <a:ext cx="457200" cy="457200"/>
          </a:xfrm>
          <a:prstGeom prst="ellipse">
            <a:avLst/>
          </a:prstGeom>
          <a:solidFill>
            <a:srgbClr val="FDBA00"/>
          </a:solidFill>
          <a:ln w="12700">
            <a:solidFill>
              <a:srgbClr val="FDBA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71432" y="3058668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906256" y="3566160"/>
            <a:ext cx="9875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897112" y="38130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escolhe o setup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10021824" y="3419856"/>
            <a:ext cx="173736" cy="0"/>
          </a:xfrm>
          <a:prstGeom prst="line">
            <a:avLst/>
          </a:prstGeom>
          <a:noFill/>
          <a:ln w="25400">
            <a:solidFill>
              <a:srgbClr val="95A8D0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232136" y="2651760"/>
            <a:ext cx="1225296" cy="1536192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2.7724959868064195e+45" dist="1.6634975920838518e+45" dir="1.6325867520000003e+54">
              <a:srgbClr val="000000">
                <a:alpha val="1.2e+54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616184" y="2916936"/>
            <a:ext cx="457200" cy="457200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16184" y="3058668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351008" y="3566160"/>
            <a:ext cx="9875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Comercial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341864" y="38130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recebe a oportunidade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5961888" y="4690872"/>
            <a:ext cx="5486400" cy="594360"/>
          </a:xfrm>
          <a:prstGeom prst="roundRect">
            <a:avLst>
              <a:gd name="adj" fmla="val 9231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4882896"/>
            <a:ext cx="5074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D5B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Foco do projeto: demonstrar o fluxo de negócio e a organização do frontend.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56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Landing page: porta de entrada para a simulação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 responsivo com visual solar, CTAs evidentes e explicação do fluxo em três passos.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201400" cy="0"/>
          </a:xfrm>
          <a:prstGeom prst="line">
            <a:avLst/>
          </a:prstGeom>
          <a:noFill/>
          <a:ln w="12700">
            <a:solidFill>
              <a:srgbClr val="D7E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362456"/>
            <a:ext cx="7004304" cy="4535424"/>
          </a:xfrm>
          <a:prstGeom prst="roundRect">
            <a:avLst>
              <a:gd name="adj" fmla="val 121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BD7EA"/>
            </a:solidFill>
            <a:prstDash val="solid"/>
          </a:ln>
          <a:effectLst>
            <a:outerShdw sx="100000" sy="100000" kx="0" ky="0" algn="bl" rotWithShape="0" blurRad="3.5210699032441527e+49" dist="2.1126419419464918e+49" dir="9.795520512000002e+58">
              <a:srgbClr val="000000">
                <a:alpha val="1.2e+59"/>
              </a:srgbClr>
            </a:outerShdw>
          </a:effectLst>
        </p:spPr>
      </p:sp>
      <p:pic>
        <p:nvPicPr>
          <p:cNvPr id="6" name="Image 0" descr="/mnt/data/slidde 1.png">    </p:cNvPr>
          <p:cNvPicPr>
            <a:picLocks noChangeAspect="1"/>
          </p:cNvPicPr>
          <p:nvPr/>
        </p:nvPicPr>
        <p:blipFill>
          <a:blip r:embed="rId1"/>
          <a:srcRect l="11792" r="11792" t="0" b="0"/>
          <a:stretch/>
        </p:blipFill>
        <p:spPr>
          <a:xfrm>
            <a:off x="502920" y="1389888"/>
            <a:ext cx="694944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54112" y="1508760"/>
            <a:ext cx="3913632" cy="1216152"/>
          </a:xfrm>
          <a:prstGeom prst="roundRect">
            <a:avLst>
              <a:gd name="adj" fmla="val 4511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4.471758777120074e+53" dist="2.6830552662720448e+53" dir="5.877312307200001e+63">
              <a:srgbClr val="000000">
                <a:alpha val="1.2000000000000001e+64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955280" y="17099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DBA00"/>
          </a:solidFill>
          <a:ln w="12700">
            <a:solidFill>
              <a:srgbClr val="FDBA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0" y="176479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★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439912" y="17099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da tela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964424" y="2221992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Apresentar o benefício principal: economia com energia solar e simulação rápida pela fatura.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7754112" y="2953512"/>
            <a:ext cx="3913632" cy="1216152"/>
          </a:xfrm>
          <a:prstGeom prst="roundRect">
            <a:avLst>
              <a:gd name="adj" fmla="val 4511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5.679133646942494e+57" dist="3.407480188165497e+57" dir="3.526387384320001e+68">
              <a:srgbClr val="000000">
                <a:alpha val="1.2e+69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955280" y="31546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55280" y="320954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439912" y="3154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Ações principais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964424" y="3666744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 botões direcionam o usuário para simulação, plataforma, login ou criação de conta.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7754112" y="4398264"/>
            <a:ext cx="3913632" cy="1216152"/>
          </a:xfrm>
          <a:prstGeom prst="roundRect">
            <a:avLst>
              <a:gd name="adj" fmla="val 4511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7.212499731616968e+61" dist="4.327499838970181e+61" dir="2.1158324305920003e+73">
              <a:srgbClr val="000000">
                <a:alpha val="1.2e+74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955280" y="459943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55280" y="465429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439912" y="45994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funciona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964424" y="5111496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usuário envia a fatura, compara setups e encaminha a escolha para o comercial.</a:t>
            </a:r>
            <a:endParaRPr lang="en-US" sz="1020" dirty="0"/>
          </a:p>
        </p:txBody>
      </p:sp>
      <p:sp>
        <p:nvSpPr>
          <p:cNvPr id="22" name="Text 19"/>
          <p:cNvSpPr/>
          <p:nvPr/>
        </p:nvSpPr>
        <p:spPr>
          <a:xfrm>
            <a:off x="521208" y="6199632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i="1" dirty="0">
                <a:solidFill>
                  <a:srgbClr val="8394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Fala sugerida: destaque que as referências visuais foram traduzidas em uma interface limpa, com azul, branco e amarelo como cores de apoio.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56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Login e cadastro: acessos por perfil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autenticação é demonstrativa: utiliza mocks, dados cadastrados e persistência no navegador.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201400" cy="0"/>
          </a:xfrm>
          <a:prstGeom prst="line">
            <a:avLst/>
          </a:prstGeom>
          <a:noFill/>
          <a:ln w="12700">
            <a:solidFill>
              <a:srgbClr val="D7E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389888"/>
            <a:ext cx="6227064" cy="4535424"/>
          </a:xfrm>
          <a:prstGeom prst="roundRect">
            <a:avLst>
              <a:gd name="adj" fmla="val 121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BD7EA"/>
            </a:solidFill>
            <a:prstDash val="solid"/>
          </a:ln>
          <a:effectLst>
            <a:outerShdw sx="100000" sy="100000" kx="0" ky="0" algn="bl" rotWithShape="0" blurRad="9.15987465915355e+65" dist="5.49592479549213e+65" dir="1.2694994583552002e+78">
              <a:srgbClr val="000000">
                <a:alpha val="1.2000000000000001e+79"/>
              </a:srgbClr>
            </a:outerShdw>
          </a:effectLst>
        </p:spPr>
      </p:sp>
      <p:pic>
        <p:nvPicPr>
          <p:cNvPr id="6" name="Image 0" descr="/mnt/data/slide3.png">    </p:cNvPr>
          <p:cNvPicPr>
            <a:picLocks noChangeAspect="1"/>
          </p:cNvPicPr>
          <p:nvPr/>
        </p:nvPicPr>
        <p:blipFill>
          <a:blip r:embed="rId1"/>
          <a:srcRect l="16637" r="16637" t="0" b="0"/>
          <a:stretch/>
        </p:blipFill>
        <p:spPr>
          <a:xfrm>
            <a:off x="502920" y="1417320"/>
            <a:ext cx="617220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95160" y="1572768"/>
            <a:ext cx="4526280" cy="2926080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1.1633040817125008e+70" dist="6.979824490275004e+69" dir="7.616996750131201e+82">
              <a:srgbClr val="000000">
                <a:alpha val="1.2000000000000002e+84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269480" y="1865376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Acessos rápidos para a demonstração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269480" y="2350008"/>
            <a:ext cx="3886200" cy="466344"/>
          </a:xfrm>
          <a:prstGeom prst="roundRect">
            <a:avLst>
              <a:gd name="adj" fmla="val 9804"/>
            </a:avLst>
          </a:prstGeom>
          <a:solidFill>
            <a:srgbClr val="EAF0FF"/>
          </a:solidFill>
          <a:ln w="12700">
            <a:solidFill>
              <a:srgbClr val="DDE6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24928" y="245973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47888" y="2459736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cliente@multifort.com</a:t>
            </a:r>
            <a:endParaRPr lang="en-US" sz="920" dirty="0"/>
          </a:p>
        </p:txBody>
      </p:sp>
      <p:sp>
        <p:nvSpPr>
          <p:cNvPr id="12" name="Text 9"/>
          <p:cNvSpPr/>
          <p:nvPr/>
        </p:nvSpPr>
        <p:spPr>
          <a:xfrm>
            <a:off x="10241280" y="24597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2D5B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123456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7269480" y="2971800"/>
            <a:ext cx="3886200" cy="466344"/>
          </a:xfrm>
          <a:prstGeom prst="roundRect">
            <a:avLst>
              <a:gd name="adj" fmla="val 9804"/>
            </a:avLst>
          </a:prstGeom>
          <a:solidFill>
            <a:srgbClr val="EAF0FF"/>
          </a:solidFill>
          <a:ln w="12700">
            <a:solidFill>
              <a:srgbClr val="DDE6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24928" y="308152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Vendedor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47888" y="3081528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vendedor@multifort.com</a:t>
            </a:r>
            <a:endParaRPr lang="en-US" sz="920" dirty="0"/>
          </a:p>
        </p:txBody>
      </p:sp>
      <p:sp>
        <p:nvSpPr>
          <p:cNvPr id="16" name="Text 13"/>
          <p:cNvSpPr/>
          <p:nvPr/>
        </p:nvSpPr>
        <p:spPr>
          <a:xfrm>
            <a:off x="10241280" y="308152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00A6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123456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7269480" y="3593592"/>
            <a:ext cx="3886200" cy="466344"/>
          </a:xfrm>
          <a:prstGeom prst="roundRect">
            <a:avLst>
              <a:gd name="adj" fmla="val 9804"/>
            </a:avLst>
          </a:prstGeom>
          <a:solidFill>
            <a:srgbClr val="FFF5D1"/>
          </a:solidFill>
          <a:ln w="12700">
            <a:solidFill>
              <a:srgbClr val="F3D56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24928" y="370332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247888" y="3703320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filips8@hotmail.com</a:t>
            </a:r>
            <a:endParaRPr lang="en-US" sz="920" dirty="0"/>
          </a:p>
        </p:txBody>
      </p:sp>
      <p:sp>
        <p:nvSpPr>
          <p:cNvPr id="20" name="Text 17"/>
          <p:cNvSpPr/>
          <p:nvPr/>
        </p:nvSpPr>
        <p:spPr>
          <a:xfrm>
            <a:off x="10241280" y="370332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DB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123456</a:t>
            </a:r>
            <a:endParaRPr lang="en-US" sz="920" dirty="0"/>
          </a:p>
        </p:txBody>
      </p:sp>
      <p:sp>
        <p:nvSpPr>
          <p:cNvPr id="21" name="Shape 18"/>
          <p:cNvSpPr/>
          <p:nvPr/>
        </p:nvSpPr>
        <p:spPr>
          <a:xfrm>
            <a:off x="6995160" y="4818888"/>
            <a:ext cx="212140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1.477396183774876e+74" dist="8.864377102649255e+73" dir="4.57019805007872e+87">
              <a:srgbClr val="000000">
                <a:alpha val="1.2000000000000002e+89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196328" y="502005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96328" y="50749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680960" y="5020056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Cadastro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205472" y="5532120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Novos usuários entram com role inicial USER.</a:t>
            </a:r>
            <a:endParaRPr lang="en-US" sz="930" dirty="0"/>
          </a:p>
        </p:txBody>
      </p:sp>
      <p:sp>
        <p:nvSpPr>
          <p:cNvPr id="26" name="Shape 23"/>
          <p:cNvSpPr/>
          <p:nvPr/>
        </p:nvSpPr>
        <p:spPr>
          <a:xfrm>
            <a:off x="9400032" y="4818888"/>
            <a:ext cx="212140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1.8762931533940924e+78" dist="1.1257758920364555e+78" dir="2.742118830047232e+92">
              <a:srgbClr val="000000">
                <a:alpha val="1.2000000000000001e+94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9601200" y="502005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601200" y="50749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0085832" y="5020056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Sessão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9610344" y="5532120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Usuário atual salvo na chave multifort_current_user.</a:t>
            </a:r>
            <a:endParaRPr lang="en-US" sz="930" dirty="0"/>
          </a:p>
        </p:txBody>
      </p:sp>
      <p:sp>
        <p:nvSpPr>
          <p:cNvPr id="31" name="Text 28"/>
          <p:cNvSpPr/>
          <p:nvPr/>
        </p:nvSpPr>
        <p:spPr>
          <a:xfrm>
            <a:off x="521208" y="6199632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i="1" dirty="0">
                <a:solidFill>
                  <a:srgbClr val="8394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Fala sugerida: use os três atalhos para demonstrar rapidamente os diferentes painéis disponíveis na solução.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56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Simulação: do PDF ao resultado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Fluxo visual para criar uma oportunidade de energia solar a partir de uma fatura.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201400" cy="0"/>
          </a:xfrm>
          <a:prstGeom prst="line">
            <a:avLst/>
          </a:prstGeom>
          <a:noFill/>
          <a:ln w="12700">
            <a:solidFill>
              <a:srgbClr val="D7E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1636776"/>
            <a:ext cx="3621024" cy="3026664"/>
          </a:xfrm>
          <a:prstGeom prst="roundRect">
            <a:avLst>
              <a:gd name="adj" fmla="val 1813"/>
            </a:avLst>
          </a:prstGeom>
          <a:solidFill>
            <a:srgbClr val="FFFFFF">
              <a:alpha val="0"/>
            </a:srgbClr>
          </a:solidFill>
          <a:ln w="12700">
            <a:solidFill>
              <a:srgbClr val="CBD7EA"/>
            </a:solidFill>
            <a:prstDash val="solid"/>
          </a:ln>
          <a:effectLst>
            <a:outerShdw sx="100000" sy="100000" kx="0" ky="0" algn="bl" rotWithShape="0" blurRad="2.3828923048104974e+82" dist="1.4297353828862985e+82" dir="1.6452712980283393e+97">
              <a:srgbClr val="000000">
                <a:alpha val="1.2e+99"/>
              </a:srgbClr>
            </a:outerShdw>
          </a:effectLst>
        </p:spPr>
      </p:sp>
      <p:pic>
        <p:nvPicPr>
          <p:cNvPr id="6" name="Image 0" descr="/mnt/data/slide4.1.png">    </p:cNvPr>
          <p:cNvPicPr>
            <a:picLocks noChangeAspect="1"/>
          </p:cNvPicPr>
          <p:nvPr/>
        </p:nvPicPr>
        <p:blipFill>
          <a:blip r:embed="rId1"/>
          <a:srcRect l="21084" r="21084" t="0" b="0"/>
          <a:stretch/>
        </p:blipFill>
        <p:spPr>
          <a:xfrm>
            <a:off x="457200" y="1664208"/>
            <a:ext cx="3566160" cy="2971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4892040"/>
            <a:ext cx="3346704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3.0262732271093317e+86" dist="1.815763936265599e+86" dir="9.871627788170037e+101">
              <a:srgbClr val="000000">
                <a:alpha val="1.2e+104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94944" y="502920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Upload da fatura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13232" y="5257800"/>
            <a:ext cx="3035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Seleciona ou arrasta o PDF da conta de energia.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069080" y="3127248"/>
            <a:ext cx="210312" cy="0"/>
          </a:xfrm>
          <a:prstGeom prst="line">
            <a:avLst/>
          </a:prstGeom>
          <a:noFill/>
          <a:ln w="25400">
            <a:solidFill>
              <a:srgbClr val="98ACD8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343400" y="1636776"/>
            <a:ext cx="3621024" cy="3026664"/>
          </a:xfrm>
          <a:prstGeom prst="roundRect">
            <a:avLst>
              <a:gd name="adj" fmla="val 1813"/>
            </a:avLst>
          </a:prstGeom>
          <a:solidFill>
            <a:srgbClr val="FFFFFF">
              <a:alpha val="0"/>
            </a:srgbClr>
          </a:solidFill>
          <a:ln w="12700">
            <a:solidFill>
              <a:srgbClr val="CBD7EA"/>
            </a:solidFill>
            <a:prstDash val="solid"/>
          </a:ln>
          <a:effectLst>
            <a:outerShdw sx="100000" sy="100000" kx="0" ky="0" algn="bl" rotWithShape="0" blurRad="3.8433669984288512e+90" dist="2.3060201990573107e+90" dir="5.9229766729020215e+106">
              <a:srgbClr val="000000">
                <a:alpha val="1.2e+109"/>
              </a:srgbClr>
            </a:outerShdw>
          </a:effectLst>
        </p:spPr>
      </p:sp>
      <p:pic>
        <p:nvPicPr>
          <p:cNvPr id="12" name="Image 1" descr="/mnt/data/slide4.2.png">    </p:cNvPr>
          <p:cNvPicPr>
            <a:picLocks noChangeAspect="1"/>
          </p:cNvPicPr>
          <p:nvPr/>
        </p:nvPicPr>
        <p:blipFill>
          <a:blip r:embed="rId2"/>
          <a:srcRect l="20850" r="20850" t="0" b="0"/>
          <a:stretch/>
        </p:blipFill>
        <p:spPr>
          <a:xfrm>
            <a:off x="4370832" y="1664208"/>
            <a:ext cx="3566160" cy="29718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480560" y="4892040"/>
            <a:ext cx="3346704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4.8810760880046414e+94" dist="2.928645652802785e+94" dir="3.553786003741213e+111">
              <a:srgbClr val="000000">
                <a:alpha val="1.1999999999999999e+114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608576" y="502920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Processamento simulado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626864" y="5257800"/>
            <a:ext cx="3035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análise é simulada por aproximadamente dois segundos.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7982712" y="3127248"/>
            <a:ext cx="210312" cy="0"/>
          </a:xfrm>
          <a:prstGeom prst="line">
            <a:avLst/>
          </a:prstGeom>
          <a:noFill/>
          <a:ln w="25400">
            <a:solidFill>
              <a:srgbClr val="98ACD8"/>
            </a:solidFill>
            <a:prstDash val="solid"/>
            <a:headEnd type="none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8257032" y="1636776"/>
            <a:ext cx="3621024" cy="3026664"/>
          </a:xfrm>
          <a:prstGeom prst="roundRect">
            <a:avLst>
              <a:gd name="adj" fmla="val 1813"/>
            </a:avLst>
          </a:prstGeom>
          <a:solidFill>
            <a:srgbClr val="FFFFFF">
              <a:alpha val="0"/>
            </a:srgbClr>
          </a:solidFill>
          <a:ln w="12700">
            <a:solidFill>
              <a:srgbClr val="CBD7EA"/>
            </a:solidFill>
            <a:prstDash val="solid"/>
          </a:ln>
          <a:effectLst>
            <a:outerShdw sx="100000" sy="100000" kx="0" ky="0" algn="bl" rotWithShape="0" blurRad="6.198966631765894e+98" dist="3.7193799790595366e+98" dir="2.1322716022447277e+116">
              <a:srgbClr val="000000">
                <a:alpha val="1.1999999999999998e+119"/>
              </a:srgbClr>
            </a:outerShdw>
          </a:effectLst>
        </p:spPr>
      </p:sp>
      <p:pic>
        <p:nvPicPr>
          <p:cNvPr id="18" name="Image 2" descr="/mnt/data/slide4.3.png">    </p:cNvPr>
          <p:cNvPicPr>
            <a:picLocks noChangeAspect="1"/>
          </p:cNvPicPr>
          <p:nvPr/>
        </p:nvPicPr>
        <p:blipFill>
          <a:blip r:embed="rId3"/>
          <a:srcRect l="10698" r="10698" t="0" b="0"/>
          <a:stretch/>
        </p:blipFill>
        <p:spPr>
          <a:xfrm>
            <a:off x="8284464" y="1664208"/>
            <a:ext cx="3566160" cy="29718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394192" y="4892040"/>
            <a:ext cx="3346704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7.872687622342685e+102" dist="4.723612573405612e+102" dir="1.2793629613468366e+121">
              <a:srgbClr val="000000">
                <a:alpha val="1.1999999999999998e+124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8522208" y="502920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Resultado e setups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540496" y="5257800"/>
            <a:ext cx="3035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usuário compara três opções e pode selecionar uma.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521208" y="6199632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i="1" dirty="0">
                <a:solidFill>
                  <a:srgbClr val="8394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Durante a demonstração, selecione um PDF e mostre a transição de upload para processamento e resultado.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56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Resultado: comparação de setups solares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opção reúne economia estimada, quantidade de placas, inversor e área necessária.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201400" cy="0"/>
          </a:xfrm>
          <a:prstGeom prst="line">
            <a:avLst/>
          </a:prstGeom>
          <a:noFill/>
          <a:ln w="12700">
            <a:solidFill>
              <a:srgbClr val="D7E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89888"/>
            <a:ext cx="7598664" cy="4489704"/>
          </a:xfrm>
          <a:prstGeom prst="roundRect">
            <a:avLst>
              <a:gd name="adj" fmla="val 1222"/>
            </a:avLst>
          </a:prstGeom>
          <a:solidFill>
            <a:srgbClr val="FFFFFF">
              <a:alpha val="0"/>
            </a:srgbClr>
          </a:solidFill>
          <a:ln w="12700">
            <a:solidFill>
              <a:srgbClr val="CBD7EA"/>
            </a:solidFill>
            <a:prstDash val="solid"/>
          </a:ln>
          <a:effectLst>
            <a:outerShdw sx="100000" sy="100000" kx="0" ky="0" algn="bl" rotWithShape="0" blurRad="9.998313280375211e+106" dist="5.998987968225127e+106" dir="7.67617776808102e+125">
              <a:srgbClr val="000000">
                <a:alpha val="1.1999999999999998e+129"/>
              </a:srgbClr>
            </a:outerShdw>
          </a:effectLst>
        </p:spPr>
      </p:sp>
      <p:pic>
        <p:nvPicPr>
          <p:cNvPr id="6" name="Image 0" descr="/mnt/data/slide4.3.png">    </p:cNvPr>
          <p:cNvPicPr>
            <a:picLocks noChangeAspect="1"/>
          </p:cNvPicPr>
          <p:nvPr/>
        </p:nvPicPr>
        <p:blipFill>
          <a:blip r:embed="rId1"/>
          <a:srcRect l="0" r="0" t="5126" b="5126"/>
          <a:stretch/>
        </p:blipFill>
        <p:spPr>
          <a:xfrm>
            <a:off x="530352" y="1417320"/>
            <a:ext cx="7543800" cy="4434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21040" y="1572768"/>
            <a:ext cx="31546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1.2697857866076517e+111" dist="7.618714719645911e+110" dir="4.605706660848612e+130">
              <a:srgbClr val="000000">
                <a:alpha val="1.1999999999999998e+134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522208" y="177393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22208" y="182880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↔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006840" y="1773936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Comparação direta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31352" y="2286000"/>
            <a:ext cx="273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 cards colocam setups lado a lado para facilitar a decisão do usuário.</a:t>
            </a:r>
            <a:endParaRPr lang="en-US" sz="940" dirty="0"/>
          </a:p>
        </p:txBody>
      </p:sp>
      <p:sp>
        <p:nvSpPr>
          <p:cNvPr id="12" name="Shape 9"/>
          <p:cNvSpPr/>
          <p:nvPr/>
        </p:nvSpPr>
        <p:spPr>
          <a:xfrm>
            <a:off x="8321040" y="2880360"/>
            <a:ext cx="31546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1.6126279489917177e+115" dist="9.675767693950307e+114" dir="2.763423996509167e+135">
              <a:srgbClr val="000000">
                <a:alpha val="1.1999999999999998e+139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522208" y="30815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22208" y="313639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006840" y="3081528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Detalhes técnicos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531352" y="3593592"/>
            <a:ext cx="273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ação “Ver detalhes” permite aprofundar a visualização de cada setup.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8321040" y="4187952"/>
            <a:ext cx="31546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2.0480374952194813e+119" dist="1.2288224971316889e+119" dir="1.6580543979055002e+140">
              <a:srgbClr val="000000">
                <a:alpha val="1.1999999999999999e+144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522208" y="43891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DBA00"/>
          </a:solidFill>
          <a:ln w="12700">
            <a:solidFill>
              <a:srgbClr val="FDBA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22208" y="444398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006840" y="4389120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Próximo passo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531352" y="4901184"/>
            <a:ext cx="273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seleção pode ser enviada ao comercial e atribuída a um vendedor.</a:t>
            </a:r>
            <a:endParaRPr lang="en-US" sz="940" dirty="0"/>
          </a:p>
        </p:txBody>
      </p:sp>
      <p:sp>
        <p:nvSpPr>
          <p:cNvPr id="22" name="Text 19"/>
          <p:cNvSpPr/>
          <p:nvPr/>
        </p:nvSpPr>
        <p:spPr>
          <a:xfrm>
            <a:off x="521208" y="6199632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i="1" dirty="0">
                <a:solidFill>
                  <a:srgbClr val="8394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Nota: os valores apresentados são demonstrativos, pois a leitura do PDF e os cálculos ainda não são reais nesta versão.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56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Tecnologias e escolhas de implementação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aplicação foi estruturada como frontend Angular moderno, com foco em modularidade e demonstração do fluxo.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201400" cy="0"/>
          </a:xfrm>
          <a:prstGeom prst="line">
            <a:avLst/>
          </a:prstGeom>
          <a:noFill/>
          <a:ln w="12700">
            <a:solidFill>
              <a:srgbClr val="D7E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72768"/>
            <a:ext cx="3310128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2.6010076189287412e+123" dist="1.5606045713572448e+123" dir="9.948326387433002e+144">
              <a:srgbClr val="000000">
                <a:alpha val="1.1999999999999998e+149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77393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82880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1773936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Angular 22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50392" y="2286000"/>
            <a:ext cx="28895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Componentes standalone e estrutura atual.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4416552" y="1572768"/>
            <a:ext cx="3310128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3.303279676039501e+127" dist="1.9819678056237007e+127" dir="5.968995832459801e+149">
              <a:srgbClr val="000000">
                <a:alpha val="1.1999999999999998e+154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77393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82880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02352" y="1773936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Angular Router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26864" y="2286000"/>
            <a:ext cx="28895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Navegação entre landing, simulação e painéis.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8193024" y="1572768"/>
            <a:ext cx="3310128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4.195165188570166e+131" dist="2.5170991131421e+131" dir="3.581397499475881e+154">
              <a:srgbClr val="000000">
                <a:alpha val="1.1999999999999998e+159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94192" y="177393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182880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878824" y="1773936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Reactive Forms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403336" y="2286000"/>
            <a:ext cx="28895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Validação em login, cadastro e setups.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640080" y="3419856"/>
            <a:ext cx="3310128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5.327859789484111e+135" dist="3.1967158736904665e+135" dir="2.1488384996855287e+159">
              <a:srgbClr val="000000">
                <a:alpha val="1.1999999999999998e+164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362102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367588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25880" y="362102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Services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50392" y="4133088"/>
            <a:ext cx="28895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Regras de negócio organizadas fora das telas.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4416552" y="3419856"/>
            <a:ext cx="3310128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6.766381932644821e+139" dist="4.0598291595868927e+139" dir="1.2893030998113172e+164">
              <a:srgbClr val="000000">
                <a:alpha val="1.1999999999999998e+169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362102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DBA00"/>
          </a:solidFill>
          <a:ln w="12700">
            <a:solidFill>
              <a:srgbClr val="FDBA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367588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02352" y="362102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localStorage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626864" y="4133088"/>
            <a:ext cx="28895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Persistência local centralizada.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8193024" y="3419856"/>
            <a:ext cx="3310128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8.593305054458923e+143" dist="5.1559830326753536e+143" dir="7.735818598867904e+168">
              <a:srgbClr val="000000">
                <a:alpha val="1.1999999999999997e+174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94192" y="362102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94192" y="367588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878824" y="362102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CSS responsivo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403336" y="4133088"/>
            <a:ext cx="28895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bibliotecas pesadas; grids e cards adaptáveis.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685800" y="5532120"/>
            <a:ext cx="10789920" cy="493776"/>
          </a:xfrm>
          <a:prstGeom prst="roundRect">
            <a:avLst>
              <a:gd name="adj" fmla="val 9259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1832" y="5669280"/>
            <a:ext cx="10287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D5B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Decisão central: manter a experiência funcional mesmo sem backend real, usando mocks e persistência no navegador.</a:t>
            </a:r>
            <a:endParaRPr lang="en-US" sz="11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56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Estrutura de pastas e responsabilidades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Separação clara entre interface, regras de negócio, entidades e configurações.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201400" cy="0"/>
          </a:xfrm>
          <a:prstGeom prst="line">
            <a:avLst/>
          </a:prstGeom>
          <a:noFill/>
          <a:ln w="12700">
            <a:solidFill>
              <a:srgbClr val="D7E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508760"/>
            <a:ext cx="2788920" cy="4251960"/>
          </a:xfrm>
          <a:prstGeom prst="roundRect">
            <a:avLst>
              <a:gd name="adj" fmla="val 2623"/>
            </a:avLst>
          </a:prstGeom>
          <a:solidFill>
            <a:srgbClr val="0C1D39"/>
          </a:solidFill>
          <a:ln w="12700">
            <a:solidFill>
              <a:srgbClr val="0C1D39"/>
            </a:solidFill>
            <a:prstDash val="solid"/>
          </a:ln>
          <a:effectLst>
            <a:outerShdw sx="100000" sy="100000" kx="0" ky="0" algn="bl" rotWithShape="0" blurRad="1.0913497419162833e+148" dist="6.548098451497699e+147" dir="4.6414911593207425e+173">
              <a:srgbClr val="000000">
                <a:alpha val="1.1999999999999996e+179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87552" y="1828800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src/app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051560" y="230428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dirty="0">
                <a:solidFill>
                  <a:srgbClr val="BF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da aplicação Angular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960120" y="2743200"/>
            <a:ext cx="2286000" cy="0"/>
          </a:xfrm>
          <a:prstGeom prst="line">
            <a:avLst/>
          </a:prstGeom>
          <a:noFill/>
          <a:ln w="15240">
            <a:solidFill>
              <a:srgbClr val="5D7D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3108960"/>
            <a:ext cx="21488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ED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Organização pensada para facilitar manutenção, evolução e localização de responsabilidades.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4206240" y="1508760"/>
            <a:ext cx="7086600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1.38601417223368e+152" dist="8.316085033402077e+151" dir="2.7848946955924455e+178">
              <a:srgbClr val="000000">
                <a:alpha val="1.1999999999999996e+184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16552" y="1673352"/>
            <a:ext cx="512064" cy="438912"/>
          </a:xfrm>
          <a:prstGeom prst="roundRect">
            <a:avLst>
              <a:gd name="adj" fmla="val 14583"/>
            </a:avLst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16552" y="1764792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▣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66360" y="16733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components</a:t>
            </a:r>
            <a:endParaRPr lang="en-US" sz="1340" dirty="0"/>
          </a:p>
        </p:txBody>
      </p:sp>
      <p:sp>
        <p:nvSpPr>
          <p:cNvPr id="14" name="Text 12"/>
          <p:cNvSpPr/>
          <p:nvPr/>
        </p:nvSpPr>
        <p:spPr>
          <a:xfrm>
            <a:off x="6812280" y="1682496"/>
            <a:ext cx="4078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Telas e componentes compartilhados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4206240" y="2542032"/>
            <a:ext cx="7086600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1.7602379987367734e+156" dist="1.0561427992420638e+156" dir="1.6709368173554673e+183">
              <a:srgbClr val="000000">
                <a:alpha val="1.1999999999999995e+189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16552" y="2706624"/>
            <a:ext cx="512064" cy="438912"/>
          </a:xfrm>
          <a:prstGeom prst="roundRect">
            <a:avLst>
              <a:gd name="adj" fmla="val 14583"/>
            </a:avLst>
          </a:prstGeom>
          <a:solidFill>
            <a:srgbClr val="FDBA00"/>
          </a:solidFill>
          <a:ln w="12700">
            <a:solidFill>
              <a:srgbClr val="FDB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16552" y="2798064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▣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66360" y="270662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configs</a:t>
            </a:r>
            <a:endParaRPr lang="en-US" sz="1340" dirty="0"/>
          </a:p>
        </p:txBody>
      </p:sp>
      <p:sp>
        <p:nvSpPr>
          <p:cNvPr id="19" name="Text 17"/>
          <p:cNvSpPr/>
          <p:nvPr/>
        </p:nvSpPr>
        <p:spPr>
          <a:xfrm>
            <a:off x="6812280" y="2715768"/>
            <a:ext cx="4078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Mocks, constantes e prioridade de roles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4206240" y="3575304"/>
            <a:ext cx="7086600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2.235502258395702e+160" dist="1.341301355037421e+160" dir="1.0025620904132804e+188">
              <a:srgbClr val="000000">
                <a:alpha val="1.1999999999999995e+194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16552" y="3739896"/>
            <a:ext cx="512064" cy="438912"/>
          </a:xfrm>
          <a:prstGeom prst="roundRect">
            <a:avLst>
              <a:gd name="adj" fmla="val 14583"/>
            </a:avLst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16552" y="3831336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▣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66360" y="37398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entities</a:t>
            </a:r>
            <a:endParaRPr lang="en-US" sz="1340" dirty="0"/>
          </a:p>
        </p:txBody>
      </p:sp>
      <p:sp>
        <p:nvSpPr>
          <p:cNvPr id="24" name="Text 22"/>
          <p:cNvSpPr/>
          <p:nvPr/>
        </p:nvSpPr>
        <p:spPr>
          <a:xfrm>
            <a:off x="6812280" y="3749040"/>
            <a:ext cx="4078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Interfaces, enums e contratos de dados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4206240" y="4608576"/>
            <a:ext cx="7086600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2.8390878681625417e+164" dist="1.7034527208975248e+164" dir="6.015372542479682e+192">
              <a:srgbClr val="000000">
                <a:alpha val="1.1999999999999994e+199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16552" y="4773168"/>
            <a:ext cx="512064" cy="438912"/>
          </a:xfrm>
          <a:prstGeom prst="roundRect">
            <a:avLst>
              <a:gd name="adj" fmla="val 14583"/>
            </a:avLst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16552" y="4864608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▣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66360" y="477316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services</a:t>
            </a:r>
            <a:endParaRPr lang="en-US" sz="1340" dirty="0"/>
          </a:p>
        </p:txBody>
      </p:sp>
      <p:sp>
        <p:nvSpPr>
          <p:cNvPr id="29" name="Text 27"/>
          <p:cNvSpPr/>
          <p:nvPr/>
        </p:nvSpPr>
        <p:spPr>
          <a:xfrm>
            <a:off x="6812280" y="4782312"/>
            <a:ext cx="4078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Autenticação, simulações, setups e persistência</a:t>
            </a:r>
            <a:endParaRPr lang="en-US" sz="1060" dirty="0"/>
          </a:p>
        </p:txBody>
      </p:sp>
      <p:sp>
        <p:nvSpPr>
          <p:cNvPr id="30" name="Text 28"/>
          <p:cNvSpPr/>
          <p:nvPr/>
        </p:nvSpPr>
        <p:spPr>
          <a:xfrm>
            <a:off x="521208" y="6199632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i="1" dirty="0">
                <a:solidFill>
                  <a:srgbClr val="8394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 de destaque: as telas consomem services; as entidades e mocks deixam os contratos e dados de demonstração previsíveis.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56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Principais componentes da aplicação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telas representam cada etapa do usuário e cada perfil operacional.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201400" cy="0"/>
          </a:xfrm>
          <a:prstGeom prst="line">
            <a:avLst/>
          </a:prstGeom>
          <a:noFill/>
          <a:ln w="12700">
            <a:solidFill>
              <a:srgbClr val="D7E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517904"/>
            <a:ext cx="3337560" cy="434340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3.605641592566428e+168" dist="2.1633849555398564e+168" dir="3.6092235254878095e+197">
              <a:srgbClr val="000000">
                <a:alpha val="1.1999999999999994e+204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64792"/>
            <a:ext cx="2935224" cy="493776"/>
          </a:xfrm>
          <a:prstGeom prst="roundRect">
            <a:avLst>
              <a:gd name="adj" fmla="val 11111"/>
            </a:avLst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920240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Jornada pública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2651760"/>
            <a:ext cx="2798064" cy="420624"/>
          </a:xfrm>
          <a:prstGeom prst="roundRect">
            <a:avLst>
              <a:gd name="adj" fmla="val 8696"/>
            </a:avLst>
          </a:prstGeom>
          <a:solidFill>
            <a:srgbClr val="F4F7FB"/>
          </a:solidFill>
          <a:ln w="12700">
            <a:solidFill>
              <a:srgbClr val="E4EA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770632"/>
            <a:ext cx="2450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21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896112" y="3291840"/>
            <a:ext cx="2798064" cy="420624"/>
          </a:xfrm>
          <a:prstGeom prst="roundRect">
            <a:avLst>
              <a:gd name="adj" fmla="val 8696"/>
            </a:avLst>
          </a:prstGeom>
          <a:solidFill>
            <a:srgbClr val="F8FAFE"/>
          </a:solidFill>
          <a:ln w="12700">
            <a:solidFill>
              <a:srgbClr val="E4EA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3410712"/>
            <a:ext cx="2450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1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896112" y="3931920"/>
            <a:ext cx="2798064" cy="420624"/>
          </a:xfrm>
          <a:prstGeom prst="roundRect">
            <a:avLst>
              <a:gd name="adj" fmla="val 8696"/>
            </a:avLst>
          </a:prstGeom>
          <a:solidFill>
            <a:srgbClr val="F4F7FB"/>
          </a:solidFill>
          <a:ln w="12700">
            <a:solidFill>
              <a:srgbClr val="E4EA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4050792"/>
            <a:ext cx="2450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1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registration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896112" y="4572000"/>
            <a:ext cx="2798064" cy="420624"/>
          </a:xfrm>
          <a:prstGeom prst="roundRect">
            <a:avLst>
              <a:gd name="adj" fmla="val 8696"/>
            </a:avLst>
          </a:prstGeom>
          <a:solidFill>
            <a:srgbClr val="F8FAFE"/>
          </a:solidFill>
          <a:ln w="12700">
            <a:solidFill>
              <a:srgbClr val="E4EA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4690872"/>
            <a:ext cx="2450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1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faq e depoimentos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4416552" y="1517904"/>
            <a:ext cx="3337560" cy="434340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4.579164822559364e+172" dist="2.7474988935356176e+172" dir="2.1655341152926858e+202">
              <a:srgbClr val="000000">
                <a:alpha val="1.1999999999999994e+20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764792"/>
            <a:ext cx="2935224" cy="493776"/>
          </a:xfrm>
          <a:prstGeom prst="roundRect">
            <a:avLst>
              <a:gd name="adj" fmla="val 11111"/>
            </a:avLst>
          </a:prstGeom>
          <a:solidFill>
            <a:srgbClr val="FDBA00"/>
          </a:solidFill>
          <a:ln w="12700">
            <a:solidFill>
              <a:srgbClr val="FDBA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6592" y="1920240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Simulação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690872" y="2651760"/>
            <a:ext cx="2798064" cy="420624"/>
          </a:xfrm>
          <a:prstGeom prst="roundRect">
            <a:avLst>
              <a:gd name="adj" fmla="val 8696"/>
            </a:avLst>
          </a:prstGeom>
          <a:solidFill>
            <a:srgbClr val="F4F7FB"/>
          </a:solidFill>
          <a:ln w="12700">
            <a:solidFill>
              <a:srgbClr val="E4EA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3752" y="2770632"/>
            <a:ext cx="2450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21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upload-invoice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4690872" y="3291840"/>
            <a:ext cx="2798064" cy="420624"/>
          </a:xfrm>
          <a:prstGeom prst="roundRect">
            <a:avLst>
              <a:gd name="adj" fmla="val 8696"/>
            </a:avLst>
          </a:prstGeom>
          <a:solidFill>
            <a:srgbClr val="F8FAFE"/>
          </a:solidFill>
          <a:ln w="12700">
            <a:solidFill>
              <a:srgbClr val="E4EA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3410712"/>
            <a:ext cx="2450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1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simulation-loading</a:t>
            </a:r>
            <a:endParaRPr lang="en-US" sz="1040" dirty="0"/>
          </a:p>
        </p:txBody>
      </p:sp>
      <p:sp>
        <p:nvSpPr>
          <p:cNvPr id="23" name="Shape 21"/>
          <p:cNvSpPr/>
          <p:nvPr/>
        </p:nvSpPr>
        <p:spPr>
          <a:xfrm>
            <a:off x="4690872" y="3931920"/>
            <a:ext cx="2798064" cy="420624"/>
          </a:xfrm>
          <a:prstGeom prst="roundRect">
            <a:avLst>
              <a:gd name="adj" fmla="val 8696"/>
            </a:avLst>
          </a:prstGeom>
          <a:solidFill>
            <a:srgbClr val="F4F7FB"/>
          </a:solidFill>
          <a:ln w="12700">
            <a:solidFill>
              <a:srgbClr val="E4EA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4050792"/>
            <a:ext cx="2450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1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simulation-result</a:t>
            </a:r>
            <a:endParaRPr lang="en-US" sz="1040" dirty="0"/>
          </a:p>
        </p:txBody>
      </p:sp>
      <p:sp>
        <p:nvSpPr>
          <p:cNvPr id="25" name="Shape 23"/>
          <p:cNvSpPr/>
          <p:nvPr/>
        </p:nvSpPr>
        <p:spPr>
          <a:xfrm>
            <a:off x="8211312" y="1517904"/>
            <a:ext cx="3337560" cy="434340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5.815539324650392e+176" dist="3.489323594790234e+176" dir="1.2993204691756116e+207">
              <a:srgbClr val="000000">
                <a:alpha val="1.1999999999999993e+214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412480" y="1764792"/>
            <a:ext cx="2935224" cy="493776"/>
          </a:xfrm>
          <a:prstGeom prst="roundRect">
            <a:avLst>
              <a:gd name="adj" fmla="val 11111"/>
            </a:avLst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31352" y="1920240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Painéis e gestão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485632" y="2651760"/>
            <a:ext cx="2798064" cy="420624"/>
          </a:xfrm>
          <a:prstGeom prst="roundRect">
            <a:avLst>
              <a:gd name="adj" fmla="val 8696"/>
            </a:avLst>
          </a:prstGeom>
          <a:solidFill>
            <a:srgbClr val="F4F7FB"/>
          </a:solidFill>
          <a:ln w="12700">
            <a:solidFill>
              <a:srgbClr val="E4EA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68512" y="2770632"/>
            <a:ext cx="2450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21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user-dashboard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8485632" y="3291840"/>
            <a:ext cx="2798064" cy="420624"/>
          </a:xfrm>
          <a:prstGeom prst="roundRect">
            <a:avLst>
              <a:gd name="adj" fmla="val 8696"/>
            </a:avLst>
          </a:prstGeom>
          <a:solidFill>
            <a:srgbClr val="F8FAFE"/>
          </a:solidFill>
          <a:ln w="12700">
            <a:solidFill>
              <a:srgbClr val="E4EA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68512" y="3410712"/>
            <a:ext cx="2450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1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seller-dashboard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8485632" y="3931920"/>
            <a:ext cx="2798064" cy="420624"/>
          </a:xfrm>
          <a:prstGeom prst="roundRect">
            <a:avLst>
              <a:gd name="adj" fmla="val 8696"/>
            </a:avLst>
          </a:prstGeom>
          <a:solidFill>
            <a:srgbClr val="F4F7FB"/>
          </a:solidFill>
          <a:ln w="12700">
            <a:solidFill>
              <a:srgbClr val="E4EA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68512" y="4050792"/>
            <a:ext cx="2450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1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admin-dashboard</a:t>
            </a:r>
            <a:endParaRPr lang="en-US" sz="1040" dirty="0"/>
          </a:p>
        </p:txBody>
      </p:sp>
      <p:sp>
        <p:nvSpPr>
          <p:cNvPr id="34" name="Shape 32"/>
          <p:cNvSpPr/>
          <p:nvPr/>
        </p:nvSpPr>
        <p:spPr>
          <a:xfrm>
            <a:off x="8485632" y="4572000"/>
            <a:ext cx="2798064" cy="420624"/>
          </a:xfrm>
          <a:prstGeom prst="roundRect">
            <a:avLst>
              <a:gd name="adj" fmla="val 8696"/>
            </a:avLst>
          </a:prstGeom>
          <a:solidFill>
            <a:srgbClr val="F8FAFE"/>
          </a:solidFill>
          <a:ln w="12700">
            <a:solidFill>
              <a:srgbClr val="E4EA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68512" y="4690872"/>
            <a:ext cx="2450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1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setup-management</a:t>
            </a:r>
            <a:endParaRPr lang="en-US" sz="1040" dirty="0"/>
          </a:p>
        </p:txBody>
      </p:sp>
      <p:sp>
        <p:nvSpPr>
          <p:cNvPr id="36" name="Text 34"/>
          <p:cNvSpPr/>
          <p:nvPr/>
        </p:nvSpPr>
        <p:spPr>
          <a:xfrm>
            <a:off x="521208" y="6199632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i="1" dirty="0">
                <a:solidFill>
                  <a:srgbClr val="8394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 componentes foram separados para cada página e para cada etapa de negócio, evitando concentrar todo o fluxo em uma única tela.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56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Services: regras de negócio organizadas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service encapsula uma responsabilidade do domínio e reduz acoplamento entre as telas.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201400" cy="0"/>
          </a:xfrm>
          <a:prstGeom prst="line">
            <a:avLst/>
          </a:prstGeom>
          <a:noFill/>
          <a:ln w="12700">
            <a:solidFill>
              <a:srgbClr val="D7E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99616"/>
            <a:ext cx="52120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7.385734942305998e+180" dist="4.431440965383597e+180" dir="7.795922815053669e+211">
              <a:srgbClr val="000000">
                <a:alpha val="1.1999999999999994e+219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1682496"/>
            <a:ext cx="420624" cy="420624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805940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80" dirty="0"/>
          </a:p>
        </p:txBody>
      </p:sp>
      <p:sp>
        <p:nvSpPr>
          <p:cNvPr id="8" name="Text 6"/>
          <p:cNvSpPr/>
          <p:nvPr/>
        </p:nvSpPr>
        <p:spPr>
          <a:xfrm>
            <a:off x="1463040" y="165506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StorageService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2962656" y="1655064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Abstrai getItem, setItem, removeItem e clear.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6281928" y="1499616"/>
            <a:ext cx="52120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9.379883376728618e+184" dist="5.627930026037168e+184" dir="4.677553689032201e+216">
              <a:srgbClr val="000000">
                <a:alpha val="1.1999999999999994e+224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83096" y="1682496"/>
            <a:ext cx="420624" cy="420624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83096" y="1805940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7086600" y="165506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AuthService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8586216" y="1655064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Login, logout, sessão, role principal e redirecionamento.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658368" y="2578608"/>
            <a:ext cx="52120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1.1912451888445345e+189" dist="7.147471133067203e+188" dir="2.806532213419321e+221">
              <a:srgbClr val="000000">
                <a:alpha val="1.1999999999999994e+229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9536" y="2761488"/>
            <a:ext cx="420624" cy="420624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2884932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1463040" y="273405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UserService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2962656" y="2734056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Mocks, cadastro, busca por e-mail e lista de vendedores.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6281928" y="2578608"/>
            <a:ext cx="52120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1.5128813898325588e+193" dist="9.077288338995348e+192" dir="1.6839193280515925e+226">
              <a:srgbClr val="000000">
                <a:alpha val="1.1999999999999994e+234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83096" y="2761488"/>
            <a:ext cx="420624" cy="420624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83096" y="2884932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7086600" y="273405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SetupService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8586216" y="2734056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Lista, cria, edita, exclui e recomenda setups.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658368" y="3657600"/>
            <a:ext cx="52120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1.9213593650873497e+197" dist="1.1528156190524093e+197" dir="1.0103515968309554e+231">
              <a:srgbClr val="000000">
                <a:alpha val="1.1999999999999992e+239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59536" y="3840480"/>
            <a:ext cx="420624" cy="420624"/>
          </a:xfrm>
          <a:prstGeom prst="ellipse">
            <a:avLst/>
          </a:prstGeom>
          <a:solidFill>
            <a:srgbClr val="FDBA00"/>
          </a:solidFill>
          <a:ln w="12700">
            <a:solidFill>
              <a:srgbClr val="FDBA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" y="3963924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5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1463040" y="381304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SimulationService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2962656" y="3813048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simulado, pendência, criação e status de simulação.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6281928" y="3657600"/>
            <a:ext cx="52120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2.440126393660934e+201" dist="1.4640758361965598e+201" dir="6.062109580985733e+235">
              <a:srgbClr val="000000">
                <a:alpha val="1.1999999999999992e+244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83096" y="3840480"/>
            <a:ext cx="420624" cy="420624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83096" y="3963924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7086600" y="381304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SellerAssignmentService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8586216" y="3813048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Associa uma simulação ao vendedor selecionado.</a:t>
            </a:r>
            <a:endParaRPr lang="en-US" sz="940" dirty="0"/>
          </a:p>
        </p:txBody>
      </p:sp>
      <p:sp>
        <p:nvSpPr>
          <p:cNvPr id="35" name="Shape 33"/>
          <p:cNvSpPr/>
          <p:nvPr/>
        </p:nvSpPr>
        <p:spPr>
          <a:xfrm>
            <a:off x="658368" y="4736592"/>
            <a:ext cx="52120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3.0989605199493864e+205" dist="1.859376311969631e+205" dir="3.63726574859144e+240">
              <a:srgbClr val="000000">
                <a:alpha val="1.1999999999999991e+249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59536" y="4919472"/>
            <a:ext cx="420624" cy="420624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9536" y="504291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1463040" y="489204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NotificationService</a:t>
            </a:r>
            <a:endParaRPr lang="en-US" sz="1220" dirty="0"/>
          </a:p>
        </p:txBody>
      </p:sp>
      <p:sp>
        <p:nvSpPr>
          <p:cNvPr id="39" name="Text 37"/>
          <p:cNvSpPr/>
          <p:nvPr/>
        </p:nvSpPr>
        <p:spPr>
          <a:xfrm>
            <a:off x="2962656" y="4892040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 simples para mensagens e evolução futura.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56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Models, mocks e persistência local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versão demonstrativa utiliza entidades tipadas, dados iniciais e localStorage para preservar o fluxo.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201400" cy="0"/>
          </a:xfrm>
          <a:prstGeom prst="line">
            <a:avLst/>
          </a:prstGeom>
          <a:noFill/>
          <a:ln w="12700">
            <a:solidFill>
              <a:srgbClr val="D7E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54480"/>
            <a:ext cx="4800600" cy="4187952"/>
          </a:xfrm>
          <a:prstGeom prst="roundRect">
            <a:avLst>
              <a:gd name="adj" fmla="val 1528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3.9356798603357206e+209" dist="2.3614079162014313e+209" dir="2.182359449154864e+245">
              <a:srgbClr val="000000">
                <a:alpha val="1.1999999999999991e+254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81051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Entidades principais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331720"/>
            <a:ext cx="1773936" cy="457200"/>
          </a:xfrm>
          <a:prstGeom prst="roundRect">
            <a:avLst>
              <a:gd name="adj" fmla="val 10000"/>
            </a:avLst>
          </a:prstGeom>
          <a:solidFill>
            <a:srgbClr val="EAF0FF"/>
          </a:solidFill>
          <a:ln w="12700">
            <a:solidFill>
              <a:srgbClr val="DDE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478024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99232" y="2331720"/>
            <a:ext cx="1773936" cy="457200"/>
          </a:xfrm>
          <a:prstGeom prst="roundRect">
            <a:avLst>
              <a:gd name="adj" fmla="val 10000"/>
            </a:avLst>
          </a:prstGeom>
          <a:solidFill>
            <a:srgbClr val="EAF0FF"/>
          </a:solidFill>
          <a:ln w="12700">
            <a:solidFill>
              <a:srgbClr val="DDE6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2478024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SolarSetup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14400" y="3081528"/>
            <a:ext cx="1773936" cy="457200"/>
          </a:xfrm>
          <a:prstGeom prst="roundRect">
            <a:avLst>
              <a:gd name="adj" fmla="val 10000"/>
            </a:avLst>
          </a:prstGeom>
          <a:solidFill>
            <a:srgbClr val="EAF0FF"/>
          </a:solidFill>
          <a:ln w="12700">
            <a:solidFill>
              <a:srgbClr val="DDE6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322783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99232" y="3081528"/>
            <a:ext cx="1773936" cy="457200"/>
          </a:xfrm>
          <a:prstGeom prst="roundRect">
            <a:avLst>
              <a:gd name="adj" fmla="val 10000"/>
            </a:avLst>
          </a:prstGeom>
          <a:solidFill>
            <a:srgbClr val="EAF0FF"/>
          </a:solidFill>
          <a:ln w="12700">
            <a:solidFill>
              <a:srgbClr val="DDE6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322783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PendingSimulation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4400" y="3831336"/>
            <a:ext cx="1773936" cy="457200"/>
          </a:xfrm>
          <a:prstGeom prst="roundRect">
            <a:avLst>
              <a:gd name="adj" fmla="val 10000"/>
            </a:avLst>
          </a:prstGeom>
          <a:solidFill>
            <a:srgbClr val="FFF5D1"/>
          </a:solidFill>
          <a:ln w="12700">
            <a:solidFill>
              <a:srgbClr val="F3D5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397764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UserRole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99232" y="3831336"/>
            <a:ext cx="1773936" cy="457200"/>
          </a:xfrm>
          <a:prstGeom prst="roundRect">
            <a:avLst>
              <a:gd name="adj" fmla="val 10000"/>
            </a:avLst>
          </a:prstGeom>
          <a:solidFill>
            <a:srgbClr val="FFF5D1"/>
          </a:solidFill>
          <a:ln w="12700">
            <a:solidFill>
              <a:srgbClr val="F3D5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0" y="397764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SimulationStatus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4400" y="4864608"/>
            <a:ext cx="4251960" cy="0"/>
          </a:xfrm>
          <a:prstGeom prst="line">
            <a:avLst/>
          </a:prstGeom>
          <a:noFill/>
          <a:ln w="12700">
            <a:solidFill>
              <a:srgbClr val="D7E0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11149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Mocks iniciais: mock-users.config.ts e mock-setups.config.ts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5989320" y="1554480"/>
            <a:ext cx="5486400" cy="4187952"/>
          </a:xfrm>
          <a:prstGeom prst="roundRect">
            <a:avLst>
              <a:gd name="adj" fmla="val 1528"/>
            </a:avLst>
          </a:prstGeom>
          <a:solidFill>
            <a:srgbClr val="0C1D39"/>
          </a:solidFill>
          <a:ln w="12700">
            <a:solidFill>
              <a:srgbClr val="0C1D39"/>
            </a:solidFill>
            <a:prstDash val="solid"/>
          </a:ln>
          <a:effectLst>
            <a:outerShdw sx="100000" sy="100000" kx="0" ky="0" algn="bl" rotWithShape="0" blurRad="4.9983134226263654e+213" dist="2.998988053575818e+213" dir="1.3094156694929184e+250">
              <a:srgbClr val="000000">
                <a:alpha val="1.1999999999999991e+259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18504" y="1847088"/>
            <a:ext cx="4800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localStorage como persistência central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510528" y="2496312"/>
            <a:ext cx="4462272" cy="402336"/>
          </a:xfrm>
          <a:prstGeom prst="roundRect">
            <a:avLst>
              <a:gd name="adj" fmla="val 9091"/>
            </a:avLst>
          </a:prstGeom>
          <a:solidFill>
            <a:srgbClr val="4269E3"/>
          </a:solidFill>
          <a:ln w="12700">
            <a:solidFill>
              <a:srgbClr val="4269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2606040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StorageService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8778240" y="2606040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30" dirty="0">
                <a:solidFill>
                  <a:srgbClr val="C9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camada de acesso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6510528" y="3136392"/>
            <a:ext cx="4462272" cy="402336"/>
          </a:xfrm>
          <a:prstGeom prst="roundRect">
            <a:avLst>
              <a:gd name="adj" fmla="val 9091"/>
            </a:avLst>
          </a:prstGeom>
          <a:solidFill>
            <a:srgbClr val="172E57"/>
          </a:solidFill>
          <a:ln w="12700">
            <a:solidFill>
              <a:srgbClr val="3150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3246120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multifort_current_user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8778240" y="3246120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30" dirty="0">
                <a:solidFill>
                  <a:srgbClr val="C9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sessão atual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6510528" y="3776472"/>
            <a:ext cx="4462272" cy="402336"/>
          </a:xfrm>
          <a:prstGeom prst="roundRect">
            <a:avLst>
              <a:gd name="adj" fmla="val 9091"/>
            </a:avLst>
          </a:prstGeom>
          <a:solidFill>
            <a:srgbClr val="172E57"/>
          </a:solidFill>
          <a:ln w="12700">
            <a:solidFill>
              <a:srgbClr val="3150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3886200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simulações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8778240" y="3886200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30" dirty="0">
                <a:solidFill>
                  <a:srgbClr val="C9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histórico e status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6510528" y="4416552"/>
            <a:ext cx="4462272" cy="402336"/>
          </a:xfrm>
          <a:prstGeom prst="roundRect">
            <a:avLst>
              <a:gd name="adj" fmla="val 9091"/>
            </a:avLst>
          </a:prstGeom>
          <a:solidFill>
            <a:srgbClr val="172E57"/>
          </a:solidFill>
          <a:ln w="12700">
            <a:solidFill>
              <a:srgbClr val="3150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0840" y="4526280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setups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8778240" y="4526280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30" dirty="0">
                <a:solidFill>
                  <a:srgbClr val="C9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 e setup recomendado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6510528" y="5212080"/>
            <a:ext cx="4462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D9E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Vantagem: facilita a demonstração sem infraestrutura externa.</a:t>
            </a:r>
            <a:endParaRPr lang="en-US" sz="960" dirty="0"/>
          </a:p>
          <a:p>
            <a:pPr algn="ctr" indent="0" marL="0">
              <a:buNone/>
            </a:pPr>
            <a:r>
              <a:rPr lang="en-US" sz="960" dirty="0">
                <a:solidFill>
                  <a:srgbClr val="D9E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Cuidado: os dados podem ser apagados ao limpar o navegador.</a:t>
            </a:r>
            <a:endParaRPr lang="en-US" sz="9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56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Login, roles e guards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acesso às rotas é controlado pelo usuário logado e pela role principal, seguindo uma ordem de prioridade.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201400" cy="0"/>
          </a:xfrm>
          <a:prstGeom prst="line">
            <a:avLst/>
          </a:prstGeom>
          <a:noFill/>
          <a:ln w="12700">
            <a:solidFill>
              <a:srgbClr val="D7E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91640"/>
            <a:ext cx="1591056" cy="1124712"/>
          </a:xfrm>
          <a:prstGeom prst="roundRect">
            <a:avLst>
              <a:gd name="adj" fmla="val 5691"/>
            </a:avLst>
          </a:prstGeom>
          <a:solidFill>
            <a:srgbClr val="0C1D39"/>
          </a:solidFill>
          <a:ln w="12700">
            <a:solidFill>
              <a:srgbClr val="0C1D39"/>
            </a:solidFill>
            <a:prstDash val="solid"/>
          </a:ln>
          <a:effectLst>
            <a:outerShdw sx="100000" sy="100000" kx="0" ky="0" algn="bl" rotWithShape="0" blurRad="6.347858046735484e+217" dist="3.808714828041289e+217" dir="7.85649401695751e+254">
              <a:srgbClr val="000000">
                <a:alpha val="1.199999999999999e+264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90195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FC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2139696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4088" y="239572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C9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Maior prioridade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2514600" y="1691640"/>
            <a:ext cx="1591056" cy="1124712"/>
          </a:xfrm>
          <a:prstGeom prst="roundRect">
            <a:avLst>
              <a:gd name="adj" fmla="val 5691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8.061779719354066e+221" dist="4.8370678316124365e+221" dir="4.713896410174506e+259">
              <a:srgbClr val="000000">
                <a:alpha val="1.1999999999999991e+269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79192" y="190195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70048" y="2139696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24328" y="239572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Administração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4434840" y="1691640"/>
            <a:ext cx="1591056" cy="1124712"/>
          </a:xfrm>
          <a:prstGeom prst="roundRect">
            <a:avLst>
              <a:gd name="adj" fmla="val 5691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1.0238460243579663e+226" dist="6.143076146147795e+225" dir="2.8283378461047036e+264">
              <a:srgbClr val="000000">
                <a:alpha val="1.199999999999999e+27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99432" y="190195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90288" y="2139696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GERENTE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44568" y="239572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Gestão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6355080" y="1691640"/>
            <a:ext cx="1591056" cy="1124712"/>
          </a:xfrm>
          <a:prstGeom prst="roundRect">
            <a:avLst>
              <a:gd name="adj" fmla="val 5691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1.3002844509346172e+230" dist="7.8017067056077e+229" dir="1.6970027076628222e+269">
              <a:srgbClr val="000000">
                <a:alpha val="1.199999999999999e+279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19672" y="190195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10528" y="2139696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VENDEDOR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64808" y="239572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Oportunidades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8275320" y="1691640"/>
            <a:ext cx="1591056" cy="1124712"/>
          </a:xfrm>
          <a:prstGeom prst="roundRect">
            <a:avLst>
              <a:gd name="adj" fmla="val 5691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1.6513612526869638e+234" dist="9.908167516121778e+233" dir="1.0182016245976934e+274">
              <a:srgbClr val="000000">
                <a:alpha val="1.199999999999999e+284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439912" y="190195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430768" y="2139696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SECRETARIA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85048" y="239572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Apoio administrativo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10195560" y="1691640"/>
            <a:ext cx="1591056" cy="1124712"/>
          </a:xfrm>
          <a:prstGeom prst="roundRect">
            <a:avLst>
              <a:gd name="adj" fmla="val 5691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2.097228790912444e+238" dist="1.2583372745474658e+238" dir="6.10920974758616e+278">
              <a:srgbClr val="000000">
                <a:alpha val="1.199999999999999e+289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360152" y="190195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351008" y="2139696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305288" y="239572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 padrão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731520" y="3456432"/>
            <a:ext cx="3273552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2.663480564458804e+242" dist="1.5980883386752816e+242" dir="3.6655258485516963e+283">
              <a:srgbClr val="000000">
                <a:alpha val="1.199999999999999e+294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32688" y="36576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688" y="37124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417320" y="3657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authGuard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41832" y="4169664"/>
            <a:ext cx="28529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Exige usuário logado.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Aplicação: Todas as áreas privadas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26280" y="3456432"/>
            <a:ext cx="3273552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3.3826203168626813e+246" dist="2.0295721901176076e+246" dir="2.1993155091310177e+288">
              <a:srgbClr val="000000">
                <a:alpha val="1.199999999999999e+299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27448" y="36576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DBA00"/>
          </a:solidFill>
          <a:ln w="12700">
            <a:solidFill>
              <a:srgbClr val="FDBA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27448" y="37124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12080" y="3657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adminGuard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736592" y="4169664"/>
            <a:ext cx="28529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DEV, ADMIN, GERENTE e SECRETARIA.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Aplicação: Painel administrativo e gestão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321040" y="3456432"/>
            <a:ext cx="3273552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4.295927802415605e+250" dist="2.5775566814493618e+250" dir="1.3195893054786106e+293">
              <a:srgbClr val="000000">
                <a:alpha val="1.199999999999999e+304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522208" y="36576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22208" y="37124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006840" y="3657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sellerGuard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8531352" y="4169664"/>
            <a:ext cx="28529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VENDEDOR.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Aplicação: Painel de oportunidades do vendedor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21208" y="6199632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i="1" dirty="0">
                <a:solidFill>
                  <a:srgbClr val="8394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role principal é calculada com prioridade: DEV, ADMIN, GERENTE, VENDEDOR, SECRETARIA e USER.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56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Fluxo de simulação e distribuição comercial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simulação pode começar antes do login e se tornar uma oportunidade atribuída após a autenticação.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201400" cy="0"/>
          </a:xfrm>
          <a:prstGeom prst="line">
            <a:avLst/>
          </a:prstGeom>
          <a:noFill/>
          <a:ln w="12700">
            <a:solidFill>
              <a:srgbClr val="D7E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828800"/>
            <a:ext cx="160020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5.455828309067819e+254" dist="3.2734969854406895e+254" dir="7.917535832871664e+297">
              <a:srgbClr val="000000">
                <a:alpha val="Infinity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7510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80260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649224" y="2423160"/>
            <a:ext cx="1307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PDF enviado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649224" y="2670048"/>
            <a:ext cx="1307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nome, tipo e tamanho</a:t>
            </a:r>
            <a:endParaRPr lang="en-US" sz="760" dirty="0"/>
          </a:p>
        </p:txBody>
      </p:sp>
      <p:sp>
        <p:nvSpPr>
          <p:cNvPr id="10" name="Shape 8"/>
          <p:cNvSpPr/>
          <p:nvPr/>
        </p:nvSpPr>
        <p:spPr>
          <a:xfrm>
            <a:off x="2103120" y="2377440"/>
            <a:ext cx="320040" cy="1572768"/>
          </a:xfrm>
          <a:prstGeom prst="line">
            <a:avLst/>
          </a:prstGeom>
          <a:noFill/>
          <a:ln w="25400">
            <a:solidFill>
              <a:srgbClr val="8EA3D1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23160" y="3401568"/>
            <a:ext cx="160020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6.928901952516129e+258" dist="4.1573411715096754e+258" dir="4.750521499722998e+302">
              <a:srgbClr val="000000">
                <a:alpha val="Infinity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354787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DBA00"/>
          </a:solidFill>
          <a:ln w="12700">
            <a:solidFill>
              <a:srgbClr val="FDBA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3653028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5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2569464" y="3995928"/>
            <a:ext cx="1307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Análise simulada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2569464" y="4242816"/>
            <a:ext cx="1307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setups retornados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4023360" y="3950208"/>
            <a:ext cx="320040" cy="-1572768"/>
          </a:xfrm>
          <a:prstGeom prst="line">
            <a:avLst/>
          </a:prstGeom>
          <a:noFill/>
          <a:ln w="25400">
            <a:solidFill>
              <a:srgbClr val="8EA3D1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343400" y="1828800"/>
            <a:ext cx="160020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8.799705479695485e+262" dist="5.279823287817288e+262" dir="2.850312899833799e+307">
              <a:srgbClr val="000000">
                <a:alpha val="Infinity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80560" y="197510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2080260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4489704" y="2423160"/>
            <a:ext cx="1307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Seleção do setup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4489704" y="2670048"/>
            <a:ext cx="1307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interesse do cliente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5943600" y="2377440"/>
            <a:ext cx="320040" cy="1572768"/>
          </a:xfrm>
          <a:prstGeom prst="line">
            <a:avLst/>
          </a:prstGeom>
          <a:noFill/>
          <a:ln w="25400">
            <a:solidFill>
              <a:srgbClr val="8EA3D1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263640" y="3401568"/>
            <a:ext cx="160020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1.1175625959213265e+267" dist="6.705375575527955e+266" dir="Infinity">
              <a:srgbClr val="000000">
                <a:alpha val="Infinity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0" y="354787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3653028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6409944" y="3995928"/>
            <a:ext cx="1307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Login / associação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6409944" y="4242816"/>
            <a:ext cx="1307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pendência vira simulação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7863840" y="3950208"/>
            <a:ext cx="320040" cy="-1572768"/>
          </a:xfrm>
          <a:prstGeom prst="line">
            <a:avLst/>
          </a:prstGeom>
          <a:noFill/>
          <a:ln w="25400">
            <a:solidFill>
              <a:srgbClr val="8EA3D1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183880" y="1828800"/>
            <a:ext cx="160020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1.4193044968200846e+271" dist="8.515826980920504e+270" dir="Infinity">
              <a:srgbClr val="000000">
                <a:alpha val="Infinity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21040" y="197510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0" y="2080260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8330184" y="2423160"/>
            <a:ext cx="1307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atribui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8330184" y="2670048"/>
            <a:ext cx="1307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assignedSellerId + status</a:t>
            </a:r>
            <a:endParaRPr lang="en-US" sz="760" dirty="0"/>
          </a:p>
        </p:txBody>
      </p:sp>
      <p:sp>
        <p:nvSpPr>
          <p:cNvPr id="34" name="Shape 32"/>
          <p:cNvSpPr/>
          <p:nvPr/>
        </p:nvSpPr>
        <p:spPr>
          <a:xfrm>
            <a:off x="9784080" y="2377440"/>
            <a:ext cx="320040" cy="1572768"/>
          </a:xfrm>
          <a:prstGeom prst="line">
            <a:avLst/>
          </a:prstGeom>
          <a:noFill/>
          <a:ln w="25400">
            <a:solidFill>
              <a:srgbClr val="8EA3D1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104120" y="3401568"/>
            <a:ext cx="160020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1.8025167109615074e+275" dist="1.081510026576904e+275" dir="Infinity">
              <a:srgbClr val="000000">
                <a:alpha val="Infinity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0241280" y="354787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DBA00"/>
          </a:solidFill>
          <a:ln w="12700">
            <a:solidFill>
              <a:srgbClr val="FDBA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241280" y="3653028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5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40" dirty="0"/>
          </a:p>
        </p:txBody>
      </p:sp>
      <p:sp>
        <p:nvSpPr>
          <p:cNvPr id="38" name="Text 36"/>
          <p:cNvSpPr/>
          <p:nvPr/>
        </p:nvSpPr>
        <p:spPr>
          <a:xfrm>
            <a:off x="10250424" y="3995928"/>
            <a:ext cx="1307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Vendedor atende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10250424" y="4242816"/>
            <a:ext cx="1307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somente seu próprio id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1874520" y="4956048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48840" y="5138928"/>
            <a:ext cx="78455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D5B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Regra principal: o vendedor visualiza somente as simulações cujo assignedSellerId é igual ao próprio id.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56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Gerenciamento de setups e rotas principais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administrador controla as opções de energia solar, enquanto o Router organiza o acesso às páginas.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201400" cy="0"/>
          </a:xfrm>
          <a:prstGeom prst="line">
            <a:avLst/>
          </a:prstGeom>
          <a:noFill/>
          <a:ln w="12700">
            <a:solidFill>
              <a:srgbClr val="D7E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507492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2.2891962229211143e+279" dist="1.373517733752668e+279" dir="Infinity">
              <a:srgbClr val="000000">
                <a:alpha val="Infinity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7099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76479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⚙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1709928"/>
            <a:ext cx="4178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CRUD de setups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50392" y="2221992"/>
            <a:ext cx="4654296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Criar novos setups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Editar dados existentes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Excluir setups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Marcar uma opção como recomendada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Carregar mocks padrão quando não houver dados salvos</a:t>
            </a:r>
            <a:endParaRPr lang="en-US" sz="1210" dirty="0"/>
          </a:p>
          <a:p>
            <a:pPr indent="0" marL="0">
              <a:buNone/>
            </a:pP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Essa gestão alimenta a experiência de comparação exibida ao usuário.</a:t>
            </a:r>
            <a:endParaRPr lang="en-US" sz="1210" dirty="0"/>
          </a:p>
        </p:txBody>
      </p:sp>
      <p:sp>
        <p:nvSpPr>
          <p:cNvPr id="10" name="Shape 8"/>
          <p:cNvSpPr/>
          <p:nvPr/>
        </p:nvSpPr>
        <p:spPr>
          <a:xfrm>
            <a:off x="6035040" y="1508760"/>
            <a:ext cx="5440680" cy="4297680"/>
          </a:xfrm>
          <a:prstGeom prst="roundRect">
            <a:avLst>
              <a:gd name="adj" fmla="val 1489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2.9072792031098153e+283" dist="1.7443675218658885e+283" dir="Infinity">
              <a:srgbClr val="000000">
                <a:alpha val="Infinity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27648" y="1783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Rotas relevantes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355080" y="2267712"/>
            <a:ext cx="2103120" cy="329184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E2E8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64808" y="2363724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13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6355080" y="2779776"/>
            <a:ext cx="2103120" cy="329184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E2E8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4808" y="2875788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13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/login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6355080" y="3291840"/>
            <a:ext cx="2103120" cy="329184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E2E8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64808" y="3387852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13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/cadastro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6355080" y="3803904"/>
            <a:ext cx="2103120" cy="329184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E2E8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4808" y="3899916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13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/simulacao/upload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6355080" y="4315968"/>
            <a:ext cx="2103120" cy="329184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E2E8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64808" y="4411980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13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/simulacao/processando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8778240" y="2267712"/>
            <a:ext cx="2103120" cy="329184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E2E8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87968" y="2363724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13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/simulacao/resultado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8778240" y="2779776"/>
            <a:ext cx="2103120" cy="329184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E2E8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87968" y="2875788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13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/painel/usuario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8778240" y="3291840"/>
            <a:ext cx="2103120" cy="329184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E2E8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87968" y="3387852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13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/painel/admin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8778240" y="3803904"/>
            <a:ext cx="2103120" cy="329184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E2E8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87968" y="3899916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13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/painel/vendedor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8778240" y="4315968"/>
            <a:ext cx="2103120" cy="329184"/>
          </a:xfrm>
          <a:prstGeom prst="roundRect">
            <a:avLst>
              <a:gd name="adj" fmla="val 11111"/>
            </a:avLst>
          </a:prstGeom>
          <a:solidFill>
            <a:srgbClr val="FFF5D1"/>
          </a:solidFill>
          <a:ln w="12700">
            <a:solidFill>
              <a:srgbClr val="F3D56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87968" y="4411980"/>
            <a:ext cx="1874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213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/admin/setups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56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Limitações atuais e próximos passos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versão atual é um protótipo funcional de frontend. A evolução natural envolve a integração com serviços reais.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201400" cy="0"/>
          </a:xfrm>
          <a:prstGeom prst="line">
            <a:avLst/>
          </a:prstGeom>
          <a:noFill/>
          <a:ln w="12700">
            <a:solidFill>
              <a:srgbClr val="D7E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54480"/>
            <a:ext cx="5257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3.6922445879494656e+287" dist="2.2153467527696782e+287" dir="Infinity">
              <a:srgbClr val="000000">
                <a:alpha val="Infinity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17556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DBA00"/>
          </a:solidFill>
          <a:ln w="12700">
            <a:solidFill>
              <a:srgbClr val="FDBA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81051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44168" y="1755648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Limitações da versão atual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2267712"/>
            <a:ext cx="4837176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Não há backend ou banco de dados real.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Autenticação é simulada.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 PDF não é lido nem processado de verdade.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 simulações são baseadas em mocks.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Dados podem ser apagados quando o usuário limpa o navegador.</a:t>
            </a:r>
            <a:endParaRPr lang="en-US" sz="1210" dirty="0"/>
          </a:p>
        </p:txBody>
      </p:sp>
      <p:sp>
        <p:nvSpPr>
          <p:cNvPr id="10" name="Shape 8"/>
          <p:cNvSpPr/>
          <p:nvPr/>
        </p:nvSpPr>
        <p:spPr>
          <a:xfrm>
            <a:off x="6263640" y="1554480"/>
            <a:ext cx="5257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7E0EF"/>
            </a:solidFill>
            <a:prstDash val="solid"/>
          </a:ln>
          <a:effectLst>
            <a:outerShdw sx="100000" sy="100000" kx="0" ky="0" algn="bl" rotWithShape="0" blurRad="4.6891506266958215e+291" dist="2.8134903760174914e+291" dir="Infinity">
              <a:srgbClr val="000000">
                <a:alpha val="Infinity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64808" y="17556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181051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49440" y="1755648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Próximos passos sugeridos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73952" y="2267712"/>
            <a:ext cx="4837176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API para usuários, setups e simulações.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Banco de dados e autenticação real.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Extração de dados da fatura por parsing/OCR.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Regras reais de dimensionamento e economia.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667A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Notificações, auditoria e acompanhamento comercial.</a:t>
            </a:r>
            <a:endParaRPr lang="en-US" sz="1210" dirty="0"/>
          </a:p>
        </p:txBody>
      </p:sp>
      <p:sp>
        <p:nvSpPr>
          <p:cNvPr id="15" name="Text 13"/>
          <p:cNvSpPr/>
          <p:nvPr/>
        </p:nvSpPr>
        <p:spPr>
          <a:xfrm>
            <a:off x="868680" y="60350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D5B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base já está preparada para evoluir: os services e entidades separam as responsabilidades de forma que a troca de mocks por integrações reais seja gradual.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56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1D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39"/>
          </a:solidFill>
          <a:ln w="12700">
            <a:solidFill>
              <a:srgbClr val="0C1D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02920"/>
            <a:ext cx="189281" cy="189281"/>
          </a:xfrm>
          <a:prstGeom prst="sun">
            <a:avLst/>
          </a:prstGeom>
          <a:solidFill>
            <a:srgbClr val="FDBA00"/>
          </a:solidFill>
          <a:ln w="12700">
            <a:solidFill>
              <a:srgbClr val="FDB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6734" y="497662"/>
            <a:ext cx="1472184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95" b="1" dirty="0">
                <a:solidFill>
                  <a:srgbClr val="2D5BE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Multifort</a:t>
            </a:r>
            <a:endParaRPr lang="en-US" sz="1495" dirty="0"/>
          </a:p>
        </p:txBody>
      </p:sp>
      <p:sp>
        <p:nvSpPr>
          <p:cNvPr id="5" name="Text 3"/>
          <p:cNvSpPr/>
          <p:nvPr/>
        </p:nvSpPr>
        <p:spPr>
          <a:xfrm>
            <a:off x="658368" y="157276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Obrigado!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5E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Multifort Interativo transforma uma simulação em uma jornada comercial organizada.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3401568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FDBA00"/>
          </a:solidFill>
          <a:ln w="12700">
            <a:solidFill>
              <a:srgbClr val="FDB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3538728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Demonstração finalizada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315968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Perguntas?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949440" y="1417320"/>
            <a:ext cx="4389120" cy="804672"/>
          </a:xfrm>
          <a:prstGeom prst="roundRect">
            <a:avLst>
              <a:gd name="adj" fmla="val 7955"/>
            </a:avLst>
          </a:prstGeom>
          <a:solidFill>
            <a:srgbClr val="172E57"/>
          </a:solidFill>
          <a:ln w="12700">
            <a:solidFill>
              <a:srgbClr val="31508B"/>
            </a:solidFill>
            <a:prstDash val="solid"/>
          </a:ln>
          <a:effectLst>
            <a:outerShdw sx="100000" sy="100000" kx="0" ky="0" algn="bl" rotWithShape="0" blurRad="5.955221295903693e+295" dist="3.573132777542214e+295" dir="Infinity">
              <a:srgbClr val="000000">
                <a:alpha val="Infinity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205472" y="1627632"/>
            <a:ext cx="347472" cy="347472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18120" y="160020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Angular 22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7818120" y="1837944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C9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standalone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6949440" y="2578608"/>
            <a:ext cx="4389120" cy="804672"/>
          </a:xfrm>
          <a:prstGeom prst="roundRect">
            <a:avLst>
              <a:gd name="adj" fmla="val 7955"/>
            </a:avLst>
          </a:prstGeom>
          <a:solidFill>
            <a:srgbClr val="172E57"/>
          </a:solidFill>
          <a:ln w="12700">
            <a:solidFill>
              <a:srgbClr val="31508B"/>
            </a:solidFill>
            <a:prstDash val="solid"/>
          </a:ln>
          <a:effectLst>
            <a:outerShdw sx="100000" sy="100000" kx="0" ky="0" algn="bl" rotWithShape="0" blurRad="7.56313104579769e+299" dist="4.537878627478612e+299" dir="Infinity">
              <a:srgbClr val="000000">
                <a:alpha val="Infinity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05472" y="2788920"/>
            <a:ext cx="347472" cy="347472"/>
          </a:xfrm>
          <a:prstGeom prst="ellipse">
            <a:avLst/>
          </a:prstGeom>
          <a:solidFill>
            <a:srgbClr val="FDBA00"/>
          </a:solidFill>
          <a:ln w="12700">
            <a:solidFill>
              <a:srgbClr val="FDBA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8120" y="276148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Mocks + localStorage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7818120" y="299923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C9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Demonstração sem backend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6949440" y="3739896"/>
            <a:ext cx="4389120" cy="804672"/>
          </a:xfrm>
          <a:prstGeom prst="roundRect">
            <a:avLst>
              <a:gd name="adj" fmla="val 7955"/>
            </a:avLst>
          </a:prstGeom>
          <a:solidFill>
            <a:srgbClr val="172E57"/>
          </a:solidFill>
          <a:ln w="12700">
            <a:solidFill>
              <a:srgbClr val="31508B"/>
            </a:solidFill>
            <a:prstDash val="solid"/>
          </a:ln>
          <a:effectLst>
            <a:outerShdw sx="100000" sy="100000" kx="0" ky="0" algn="bl" rotWithShape="0" blurRad="9.605176428163068e+303" dist="5.763105856897837e+303" dir="Infinity">
              <a:srgbClr val="000000">
                <a:alpha val="Infinity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205472" y="3950208"/>
            <a:ext cx="347472" cy="347472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18120" y="392277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perfis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7818120" y="416052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C9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Cliente, vendedor e admin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156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Multifort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Multifort Interativo</dc:title>
  <dc:subject>Apresentação do projeto Multifort Interativo</dc:subject>
  <dc:creator>OpenAI</dc:creator>
  <cp:lastModifiedBy>OpenAI</cp:lastModifiedBy>
  <cp:revision>1</cp:revision>
  <dcterms:created xsi:type="dcterms:W3CDTF">2026-07-06T00:07:25Z</dcterms:created>
  <dcterms:modified xsi:type="dcterms:W3CDTF">2026-07-06T00:07:25Z</dcterms:modified>
</cp:coreProperties>
</file>