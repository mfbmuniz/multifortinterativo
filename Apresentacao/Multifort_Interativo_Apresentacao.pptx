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957D8"/>
          </a:solidFill>
          <a:ln w="12700">
            <a:solidFill>
              <a:srgbClr val="2957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156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Multifort Interativo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46920" y="661568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C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do projeto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-1188720"/>
            <a:ext cx="6217920" cy="6217920"/>
          </a:xfrm>
          <a:prstGeom prst="ellipse">
            <a:avLst/>
          </a:prstGeom>
          <a:solidFill>
            <a:srgbClr val="456EE6">
              <a:alpha val="65000"/>
            </a:srgbClr>
          </a:solidFill>
          <a:ln w="12700">
            <a:solidFill>
              <a:srgbClr val="456EE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5400" y="-182880"/>
            <a:ext cx="2743200" cy="2743200"/>
          </a:xfrm>
          <a:prstGeom prst="ellipse">
            <a:avLst/>
          </a:prstGeom>
          <a:solidFill>
            <a:srgbClr val="88A6F6">
              <a:alpha val="55000"/>
            </a:srgbClr>
          </a:solidFill>
          <a:ln w="12700">
            <a:solidFill>
              <a:srgbClr val="88A6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502920"/>
            <a:ext cx="189281" cy="189281"/>
          </a:xfrm>
          <a:prstGeom prst="sun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" y="497662"/>
            <a:ext cx="147218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5" b="1" dirty="0">
                <a:solidFill>
                  <a:srgbClr val="2D5B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Multifort</a:t>
            </a:r>
            <a:endParaRPr lang="en-US" sz="1495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2633472" cy="301752"/>
          </a:xfrm>
          <a:prstGeom prst="roundRect">
            <a:avLst>
              <a:gd name="adj" fmla="val 24242"/>
            </a:avLst>
          </a:prstGeom>
          <a:solidFill>
            <a:srgbClr val="355FE2"/>
          </a:solidFill>
          <a:ln w="12700">
            <a:solidFill>
              <a:srgbClr val="355F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385316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ANGULAR • ENERGIA SOLAR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621792" y="187452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Multifort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Interativo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8368" y="3611880"/>
            <a:ext cx="5074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Simulação de energia solar, organização de leads e encaminhamento de oportunidades para vendedores.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" y="4645152"/>
            <a:ext cx="1783080" cy="420624"/>
          </a:xfrm>
          <a:prstGeom prst="roundRect">
            <a:avLst>
              <a:gd name="adj" fmla="val 17391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7594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do projeto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58368" y="53309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C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Angular com mocks e persistência local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58368" y="5623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DB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minutos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406640" y="2011680"/>
            <a:ext cx="3858768" cy="2304288"/>
          </a:xfrm>
          <a:prstGeom prst="roundRect">
            <a:avLst>
              <a:gd name="adj" fmla="val 3968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26680" y="23317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SIMULAÇÃO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99248" y="267919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052560" y="28346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economia estimada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setup ideal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726680" y="3529584"/>
            <a:ext cx="3200400" cy="0"/>
          </a:xfrm>
          <a:prstGeom prst="line">
            <a:avLst/>
          </a:prstGeom>
          <a:noFill/>
          <a:ln w="12700">
            <a:solidFill>
              <a:srgbClr val="AFC4FF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7490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PDF  →  análise simulada  →  seleção do setup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da apresentação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rápida da experiência do usuário e da estrutura técnica do projeto.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3375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22580000" dist="193548000" dir="162000000000">
              <a:srgbClr val="000000">
                <a:alpha val="12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1947672"/>
            <a:ext cx="512064" cy="51206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8483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18488" y="19385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 geral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1618488" y="2295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e proposta da plataforma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3375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096766000000" dist="24580596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947672"/>
            <a:ext cx="512064" cy="512064"/>
          </a:xfrm>
          <a:prstGeom prst="ellipse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08483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9385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Demonstração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5413248" y="2295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page, login e simulação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8275320" y="1691640"/>
            <a:ext cx="33375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2028928200000000" dist="3121735692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31352" y="1947672"/>
            <a:ext cx="512064" cy="51206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208483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08008" y="19385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9208008" y="2295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Tecnologias, pastas, services e modelos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85800" y="3566160"/>
            <a:ext cx="33375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660767388140000000000" dist="396460432884000000000" dir="3.4992e+25">
              <a:srgbClr val="000000">
                <a:alpha val="1.2e+2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1832" y="3822192"/>
            <a:ext cx="512064" cy="51206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95935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18488" y="3813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 e fluxo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1618488" y="41696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guards, persistência e distribuição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480560" y="3566160"/>
            <a:ext cx="33375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8.391745829378e+24" dist="5.0350474976268e+24" dir="2.09952e+30">
              <a:srgbClr val="000000">
                <a:alpha val="1.2e+2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3822192"/>
            <a:ext cx="512064" cy="51206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95935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3813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Encerramento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5413248" y="41696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Limitações e próximos passos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também pode ser usada como roteiro de fala durante a apresentação.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o Multifort Interativo?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 web para transformar a fatura de energia em uma oportunidade comercial organizada.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.0657517203310059e+29" dist="6.3945103219860365e+28" dir="1.259712e+35">
              <a:srgbClr val="000000">
                <a:alpha val="1.2e+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105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DE VALOR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plataforma conduz o usuário da simulação ao encaminhamento comercial, com uma jornada simples e visual.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4944" y="3429000"/>
            <a:ext cx="47091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orçamentos de energia solar a partir de um PDF.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Exibe alternativas de setups e indicadores de economia.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o histórico do cliente e distribui oportunidades para vendedores.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o funcionamento no frontend com mocks e localStorage.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897880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3535046848203775e+33" dist="8.121028108922266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1928" y="2916936"/>
            <a:ext cx="457200" cy="45720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16752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Usuário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07608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 a fatura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132320" y="3419856"/>
            <a:ext cx="173736" cy="0"/>
          </a:xfrm>
          <a:prstGeom prst="line">
            <a:avLst/>
          </a:prstGeom>
          <a:noFill/>
          <a:ln w="25400">
            <a:solidFill>
              <a:srgbClr val="95A8D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42632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7189509497218795e+37" dist="1.0313705698331278e+37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26680" y="2916936"/>
            <a:ext cx="457200" cy="45720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61504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52360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a análise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577072" y="3419856"/>
            <a:ext cx="173736" cy="0"/>
          </a:xfrm>
          <a:prstGeom prst="line">
            <a:avLst/>
          </a:prstGeom>
          <a:noFill/>
          <a:ln w="25400">
            <a:solidFill>
              <a:srgbClr val="95A8D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87384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5D1"/>
          </a:solidFill>
          <a:ln w="12700">
            <a:solidFill>
              <a:srgbClr val="FDBA00"/>
            </a:solidFill>
            <a:prstDash val="solid"/>
          </a:ln>
          <a:effectLst>
            <a:outerShdw sx="100000" sy="100000" kx="0" ky="0" algn="bl" rotWithShape="0" blurRad="2.183067706146787e+41" dist="1.3098406236880722e+41" dir="2.72097792e+49">
              <a:srgbClr val="000000">
                <a:alpha val="1.2e+4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71432" y="2916936"/>
            <a:ext cx="457200" cy="457200"/>
          </a:xfrm>
          <a:prstGeom prst="ellipse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06256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97112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 o setup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021824" y="3419856"/>
            <a:ext cx="173736" cy="0"/>
          </a:xfrm>
          <a:prstGeom prst="line">
            <a:avLst/>
          </a:prstGeom>
          <a:noFill/>
          <a:ln w="25400">
            <a:solidFill>
              <a:srgbClr val="95A8D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32136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7724959868064195e+45" dist="1.6634975920838518e+45" dir="1.6325867520000003e+54">
              <a:srgbClr val="000000">
                <a:alpha val="1.2e+5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16184" y="2916936"/>
            <a:ext cx="457200" cy="45720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16184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51008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341864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recebe a oportunidade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961888" y="4690872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4882896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do projeto: demonstrar o fluxo de negócio e a organização do frontend.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page: porta de entrada para a simulação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responsivo com visual solar, CTAs evidentes e explicação do fluxo em três passos.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62456"/>
            <a:ext cx="7004304" cy="4535424"/>
          </a:xfrm>
          <a:prstGeom prst="roundRect">
            <a:avLst>
              <a:gd name="adj" fmla="val 12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3.5210699032441527e+49" dist="2.1126419419464918e+49" dir="9.795520512000002e+58">
              <a:srgbClr val="000000">
                <a:alpha val="1.2e+59"/>
              </a:srgbClr>
            </a:outerShdw>
          </a:effectLst>
        </p:spPr>
      </p:sp>
      <p:pic>
        <p:nvPicPr>
          <p:cNvPr id="6" name="Image 0" descr="/mnt/data/slidde 1.png">    </p:cNvPr>
          <p:cNvPicPr>
            <a:picLocks noChangeAspect="1"/>
          </p:cNvPicPr>
          <p:nvPr/>
        </p:nvPicPr>
        <p:blipFill>
          <a:blip r:embed="rId1"/>
          <a:srcRect l="11792" r="11792" t="0" b="0"/>
          <a:stretch/>
        </p:blipFill>
        <p:spPr>
          <a:xfrm>
            <a:off x="502920" y="1389888"/>
            <a:ext cx="69494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54112" y="1508760"/>
            <a:ext cx="3913632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471758777120074e+53" dist="2.6830552662720448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099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764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39912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da tela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64424" y="222199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Apresentar o benefício principal: economia com energia solar e simulação rápida pela fatura.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7754112" y="2953512"/>
            <a:ext cx="3913632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679133646942494e+57" dist="3.407480188165497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95528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32095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39912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Ações principais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64424" y="366674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botões direcionam o usuário para simulação, plataforma, login ou criação de conta.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754112" y="4398264"/>
            <a:ext cx="3913632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7.212499731616968e+61" dist="4.327499838970181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55280" y="45994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46542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39912" y="4599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964424" y="511149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envia a fatura, compara setups e encaminha a escolha para o comercial.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Fala sugerida: destaque que as referências visuais foram traduzidas em uma interface limpa, com azul, branco e amarelo como cores de apoio.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e cadastro: acessos por perfil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autenticação é demonstrativa: utiliza mocks, dados cadastrados e persistência no navegador.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89888"/>
            <a:ext cx="6227064" cy="4535424"/>
          </a:xfrm>
          <a:prstGeom prst="roundRect">
            <a:avLst>
              <a:gd name="adj" fmla="val 12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9.15987465915355e+65" dist="5.49592479549213e+65" dir="1.2694994583552002e+78">
              <a:srgbClr val="000000">
                <a:alpha val="1.2000000000000001e+79"/>
              </a:srgbClr>
            </a:outerShdw>
          </a:effectLst>
        </p:spPr>
      </p:sp>
      <p:pic>
        <p:nvPicPr>
          <p:cNvPr id="6" name="Image 0" descr="/mnt/data/slide3.png">    </p:cNvPr>
          <p:cNvPicPr>
            <a:picLocks noChangeAspect="1"/>
          </p:cNvPicPr>
          <p:nvPr/>
        </p:nvPicPr>
        <p:blipFill>
          <a:blip r:embed="rId1"/>
          <a:srcRect l="16637" r="16637" t="0" b="0"/>
          <a:stretch/>
        </p:blipFill>
        <p:spPr>
          <a:xfrm>
            <a:off x="502920" y="1417320"/>
            <a:ext cx="61722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95160" y="1572768"/>
            <a:ext cx="452628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1633040817125008e+70" dist="6.979824490275004e+69" dir="7.616996750131201e+82">
              <a:srgbClr val="000000">
                <a:alpha val="1.2000000000000002e+84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69480" y="18653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Acessos rápidos para a demonstração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269480" y="2350008"/>
            <a:ext cx="3886200" cy="466344"/>
          </a:xfrm>
          <a:prstGeom prst="roundRect">
            <a:avLst>
              <a:gd name="adj" fmla="val 9804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24928" y="24597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47888" y="245973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cliente@multifort.com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0241280" y="24597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123456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269480" y="2971800"/>
            <a:ext cx="3886200" cy="466344"/>
          </a:xfrm>
          <a:prstGeom prst="roundRect">
            <a:avLst>
              <a:gd name="adj" fmla="val 9804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4928" y="3081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Vendedor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47888" y="3081528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vendedor@multifort.com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10241280" y="308152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0A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123456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7269480" y="3593592"/>
            <a:ext cx="3886200" cy="466344"/>
          </a:xfrm>
          <a:prstGeom prst="roundRect">
            <a:avLst>
              <a:gd name="adj" fmla="val 9804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37033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47888" y="370332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filips8@hotmail.com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0241280" y="370332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DB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123456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6995160" y="4818888"/>
            <a:ext cx="212140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477396183774876e+74" dist="8.864377102649255e+73" dir="4.57019805007872e+87">
              <a:srgbClr val="000000">
                <a:alpha val="1.2000000000000002e+89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96328" y="5020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96328" y="50749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80960" y="5020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Cadastro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05472" y="553212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Novos usuários entram com role inicial USER.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400032" y="4818888"/>
            <a:ext cx="212140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8762931533940924e+78" dist="1.1257758920364555e+78" dir="2.742118830047232e+92">
              <a:srgbClr val="000000">
                <a:alpha val="1.2000000000000001e+94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601200" y="5020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0" y="50749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085832" y="5020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Sessão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610344" y="553212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 atual salvo na chave multifort_current_user.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Fala sugerida: use os três atalhos para demonstrar rapidamente os diferentes painéis disponíveis na solução.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Simulação: do PDF ao resultado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visual para criar uma oportunidade de energia solar a partir de uma fatura.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636776"/>
            <a:ext cx="3621024" cy="3026664"/>
          </a:xfrm>
          <a:prstGeom prst="roundRect">
            <a:avLst>
              <a:gd name="adj" fmla="val 1813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2.3828923048104974e+82" dist="1.4297353828862985e+82" dir="1.6452712980283393e+97">
              <a:srgbClr val="000000">
                <a:alpha val="1.2e+99"/>
              </a:srgbClr>
            </a:outerShdw>
          </a:effectLst>
        </p:spPr>
      </p:sp>
      <p:pic>
        <p:nvPicPr>
          <p:cNvPr id="6" name="Image 0" descr="/mnt/data/slide4.1.png">    </p:cNvPr>
          <p:cNvPicPr>
            <a:picLocks noChangeAspect="1"/>
          </p:cNvPicPr>
          <p:nvPr/>
        </p:nvPicPr>
        <p:blipFill>
          <a:blip r:embed="rId1"/>
          <a:srcRect l="21084" r="21084" t="0" b="0"/>
          <a:stretch/>
        </p:blipFill>
        <p:spPr>
          <a:xfrm>
            <a:off x="457200" y="1664208"/>
            <a:ext cx="356616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892040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0262732271093317e+86" dist="1.815763936265599e+86" dir="9.871627788170037e+101">
              <a:srgbClr val="000000">
                <a:alpha val="1.2e+104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4944" y="5029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Upload da fatura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3232" y="52578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 ou arrasta o PDF da conta de energia.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69080" y="3127248"/>
            <a:ext cx="210312" cy="0"/>
          </a:xfrm>
          <a:prstGeom prst="line">
            <a:avLst/>
          </a:prstGeom>
          <a:noFill/>
          <a:ln w="25400">
            <a:solidFill>
              <a:srgbClr val="98ACD8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43400" y="1636776"/>
            <a:ext cx="3621024" cy="3026664"/>
          </a:xfrm>
          <a:prstGeom prst="roundRect">
            <a:avLst>
              <a:gd name="adj" fmla="val 1813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3.8433669984288512e+90" dist="2.3060201990573107e+90" dir="5.9229766729020215e+106">
              <a:srgbClr val="000000">
                <a:alpha val="1.2e+109"/>
              </a:srgbClr>
            </a:outerShdw>
          </a:effectLst>
        </p:spPr>
      </p:sp>
      <p:pic>
        <p:nvPicPr>
          <p:cNvPr id="12" name="Image 1" descr="/mnt/data/slide4.2.png">    </p:cNvPr>
          <p:cNvPicPr>
            <a:picLocks noChangeAspect="1"/>
          </p:cNvPicPr>
          <p:nvPr/>
        </p:nvPicPr>
        <p:blipFill>
          <a:blip r:embed="rId2"/>
          <a:srcRect l="20850" r="20850" t="0" b="0"/>
          <a:stretch/>
        </p:blipFill>
        <p:spPr>
          <a:xfrm>
            <a:off x="4370832" y="1664208"/>
            <a:ext cx="3566160" cy="2971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80560" y="4892040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8810760880046414e+94" dist="2.928645652802785e+94" dir="3.553786003741213e+111">
              <a:srgbClr val="000000">
                <a:alpha val="1.1999999999999999e+114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08576" y="5029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Processamento simulado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26864" y="52578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é simulada por aproximadamente dois segundos.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982712" y="3127248"/>
            <a:ext cx="210312" cy="0"/>
          </a:xfrm>
          <a:prstGeom prst="line">
            <a:avLst/>
          </a:prstGeom>
          <a:noFill/>
          <a:ln w="25400">
            <a:solidFill>
              <a:srgbClr val="98ACD8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8257032" y="1636776"/>
            <a:ext cx="3621024" cy="3026664"/>
          </a:xfrm>
          <a:prstGeom prst="roundRect">
            <a:avLst>
              <a:gd name="adj" fmla="val 1813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6.198966631765894e+98" dist="3.7193799790595366e+98" dir="2.1322716022447277e+116">
              <a:srgbClr val="000000">
                <a:alpha val="1.1999999999999998e+119"/>
              </a:srgbClr>
            </a:outerShdw>
          </a:effectLst>
        </p:spPr>
      </p:sp>
      <p:pic>
        <p:nvPicPr>
          <p:cNvPr id="18" name="Image 2" descr="/mnt/data/slide4.3.png">    </p:cNvPr>
          <p:cNvPicPr>
            <a:picLocks noChangeAspect="1"/>
          </p:cNvPicPr>
          <p:nvPr/>
        </p:nvPicPr>
        <p:blipFill>
          <a:blip r:embed="rId3"/>
          <a:srcRect l="10698" r="10698" t="0" b="0"/>
          <a:stretch/>
        </p:blipFill>
        <p:spPr>
          <a:xfrm>
            <a:off x="8284464" y="1664208"/>
            <a:ext cx="3566160" cy="2971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94192" y="4892040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7.872687622342685e+102" dist="4.723612573405612e+102" dir="1.2793629613468366e+121">
              <a:srgbClr val="000000">
                <a:alpha val="1.1999999999999998e+124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522208" y="5029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Resultado e setups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540496" y="52578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compara três opções e pode selecionar uma.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a demonstração, selecione um PDF e mostre a transição de upload para processamento e resultado.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Resultado: comparação de setups solares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opção reúne economia estimada, quantidade de placas, inversor e área necessária.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7598664" cy="4489704"/>
          </a:xfrm>
          <a:prstGeom prst="roundRect">
            <a:avLst>
              <a:gd name="adj" fmla="val 1222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9.998313280375211e+106" dist="5.998987968225127e+106" dir="7.67617776808102e+125">
              <a:srgbClr val="000000">
                <a:alpha val="1.1999999999999998e+129"/>
              </a:srgbClr>
            </a:outerShdw>
          </a:effectLst>
        </p:spPr>
      </p:sp>
      <p:pic>
        <p:nvPicPr>
          <p:cNvPr id="6" name="Image 0" descr="/mnt/data/slide4.3.png">    </p:cNvPr>
          <p:cNvPicPr>
            <a:picLocks noChangeAspect="1"/>
          </p:cNvPicPr>
          <p:nvPr/>
        </p:nvPicPr>
        <p:blipFill>
          <a:blip r:embed="rId1"/>
          <a:srcRect l="0" r="0" t="5126" b="5126"/>
          <a:stretch/>
        </p:blipFill>
        <p:spPr>
          <a:xfrm>
            <a:off x="530352" y="1417320"/>
            <a:ext cx="754380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572768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2697857866076517e+111" dist="7.618714719645911e+110" dir="4.605706660848612e+130">
              <a:srgbClr val="000000">
                <a:alpha val="1.1999999999999998e+134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22208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006840" y="177393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direta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31352" y="228600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cards colocam setups lado a lado para facilitar a decisão do usuário.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321040" y="288036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6126279489917177e+115" dist="9.675767693950307e+114" dir="2.763423996509167e+135">
              <a:srgbClr val="000000">
                <a:alpha val="1.1999999999999998e+13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22208" y="3081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22208" y="3136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06840" y="30815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Detalhes técnicos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31352" y="3593592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ação “Ver detalhes” permite aprofundar a visualização de cada setup.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8321040" y="418795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0480374952194813e+119" dist="1.2288224971316889e+119" dir="1.6580543979055002e+140">
              <a:srgbClr val="000000">
                <a:alpha val="1.1999999999999999e+14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22208" y="4389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22208" y="44439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06840" y="438912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31352" y="4901184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seleção pode ser enviada ao comercial e atribuída a um vendedor.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os valores apresentados são demonstrativos, pois a leitura do PDF e os cálculos ainda não são reais nesta versão.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Tecnologias e escolhas de implementação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foi estruturada como frontend Angular moderno, com foco em modularidade e demonstração do fluxo.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6010076189287412e+123" dist="1.5606045713572448e+123" dir="9.948326387433002e+144">
              <a:srgbClr val="000000">
                <a:alpha val="1.1999999999999998e+14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73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22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standalone e estrutura atual.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16552" y="1572768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303279676039501e+127" dist="1.9819678056237007e+127" dir="5.968995832459801e+149">
              <a:srgbClr val="000000">
                <a:alpha val="1.1999999999999998e+15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02352" y="1773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Router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26864" y="2286000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Navegação entre landing, simulação e painéis.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193024" y="1572768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195165188570166e+131" dist="2.5170991131421e+131" dir="3.581397499475881e+154">
              <a:srgbClr val="000000">
                <a:alpha val="1.1999999999999998e+1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78824" y="1773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Reactive Forms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03336" y="2286000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em login, cadastro e setups.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40080" y="3419856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327859789484111e+135" dist="3.1967158736904665e+135" dir="2.1488384996855287e+159">
              <a:srgbClr val="000000">
                <a:alpha val="1.1999999999999998e+16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621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675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6210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0392" y="4133088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de negócio organizadas fora das telas.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416552" y="3419856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6.766381932644821e+139" dist="4.0598291595868927e+139" dir="1.2893030998113172e+164">
              <a:srgbClr val="000000">
                <a:alpha val="1.1999999999999998e+16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21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675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6210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26864" y="4133088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 local centralizada.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193024" y="3419856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8.593305054458923e+143" dist="5.1559830326753536e+143" dir="7.735818598867904e+168">
              <a:srgbClr val="000000">
                <a:alpha val="1.1999999999999997e+17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94192" y="3621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3675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78824" y="36210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responsivo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03336" y="4133088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bibliotecas pesadas; grids e cards adaptáveis.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85800" y="5532120"/>
            <a:ext cx="10789920" cy="493776"/>
          </a:xfrm>
          <a:prstGeom prst="roundRect">
            <a:avLst>
              <a:gd name="adj" fmla="val 925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5669280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central: manter a experiência funcional mesmo sem backend real, usando mocks e persistência no navegador.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de pastas e responsabilidades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Separação clara entre interface, regras de negócio, entidades e configurações.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08760"/>
            <a:ext cx="2788920" cy="4251960"/>
          </a:xfrm>
          <a:prstGeom prst="roundRect">
            <a:avLst>
              <a:gd name="adj" fmla="val 2623"/>
            </a:avLst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  <a:effectLst>
            <a:outerShdw sx="100000" sy="100000" kx="0" ky="0" algn="bl" rotWithShape="0" blurRad="1.0913497419162833e+148" dist="6.548098451497699e+147" dir="4.6414911593207425e+173">
              <a:srgbClr val="000000">
                <a:alpha val="1.1999999999999996e+17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8288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src/app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51560" y="23042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B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da aplicação Angular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960120" y="2743200"/>
            <a:ext cx="2286000" cy="0"/>
          </a:xfrm>
          <a:prstGeom prst="line">
            <a:avLst/>
          </a:prstGeom>
          <a:noFill/>
          <a:ln w="15240">
            <a:solidFill>
              <a:srgbClr val="5D7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108960"/>
            <a:ext cx="2148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ED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 pensada para facilitar manutenção, evolução e localização de responsabilidades.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38601417223368e+152" dist="8.316085033402077e+151" dir="2.7848946955924455e+178">
              <a:srgbClr val="000000">
                <a:alpha val="1.1999999999999996e+18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673352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76479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16733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components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6812280" y="1682496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Telas e componentes compartilhados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206240" y="2542032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7602379987367734e+156" dist="1.0561427992420638e+156" dir="1.6709368173554673e+183">
              <a:srgbClr val="000000">
                <a:alpha val="1.1999999999999995e+18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6552" y="2706624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27980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7066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configs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6812280" y="2715768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Mocks, constantes e prioridade de roles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206240" y="3575304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235502258395702e+160" dist="1.341301355037421e+160" dir="1.0025620904132804e+188">
              <a:srgbClr val="000000">
                <a:alpha val="1.1999999999999995e+19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16552" y="3739896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383133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3739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entities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6812280" y="374904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Interfaces, enums e contratos de dados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206240" y="4608576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8390878681625417e+164" dist="1.7034527208975248e+164" dir="6.015372542479682e+192">
              <a:srgbClr val="000000">
                <a:alpha val="1.1999999999999994e+19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6552" y="4773168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4864608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4773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6812280" y="4782312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Autenticação, simulações, setups e persistência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de destaque: as telas consomem services; as entidades e mocks deixam os contratos e dados de demonstração previsíveis.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componentes da aplicação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telas representam cada etapa do usuário e cada perfil operacional.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17904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605641592566428e+168" dist="2.1633849555398564e+168" dir="3.6092235254878095e+197">
              <a:srgbClr val="000000">
                <a:alpha val="1.1999999999999994e+20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64792"/>
            <a:ext cx="2935224" cy="493776"/>
          </a:xfrm>
          <a:prstGeom prst="roundRect">
            <a:avLst>
              <a:gd name="adj" fmla="val 11111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2024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Jornada pública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65176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77063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96112" y="329184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41071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96112" y="393192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05079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96112" y="457200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69087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 e depoimentos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4416552" y="1517904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579164822559364e+172" dist="2.7474988935356176e+172" dir="2.1655341152926858e+202">
              <a:srgbClr val="000000">
                <a:alpha val="1.1999999999999994e+20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764792"/>
            <a:ext cx="2935224" cy="493776"/>
          </a:xfrm>
          <a:prstGeom prst="roundRect">
            <a:avLst>
              <a:gd name="adj" fmla="val 11111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92024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Simulação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90872" y="265176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77063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upload-invoice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4690872" y="329184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41071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simulation-loading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690872" y="393192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405079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simulation-result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8211312" y="1517904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815539324650392e+176" dist="3.489323594790234e+176" dir="1.2993204691756116e+207">
              <a:srgbClr val="000000">
                <a:alpha val="1.1999999999999993e+21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0" y="1764792"/>
            <a:ext cx="2935224" cy="493776"/>
          </a:xfrm>
          <a:prstGeom prst="roundRect">
            <a:avLst>
              <a:gd name="adj" fmla="val 11111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1352" y="192024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Painéis e gestão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485632" y="265176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68512" y="277063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user-dashboard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485632" y="329184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68512" y="341071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seller-dashboard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485632" y="393192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68512" y="405079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admin-dashboard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8485632" y="457200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469087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setup-management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componentes foram separados para cada página e para cada etapa de negócio, evitando concentrar todo o fluxo em uma única tela.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Services: regras de negócio organizadas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service encapsula uma responsabilidade do domínio e reduz acoplamento entre as telas.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99616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7.385734942305998e+180" dist="4.431440965383597e+180" dir="7.795922815053669e+211">
              <a:srgbClr val="000000">
                <a:alpha val="1.1999999999999994e+21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682496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0594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1463040" y="1655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StorageService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962656" y="165506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Abstrai getItem, setItem, removeItem e clear.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281928" y="1499616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9.379883376728618e+184" dist="5.627930026037168e+184" dir="4.677553689032201e+216">
              <a:srgbClr val="000000">
                <a:alpha val="1.1999999999999994e+2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83096" y="1682496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80594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086600" y="1655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AuthService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586216" y="165506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logout, sessão, role principal e redirecionamento.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58368" y="2578608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1912451888445345e+189" dist="7.147471133067203e+188" dir="2.806532213419321e+221">
              <a:srgbClr val="000000">
                <a:alpha val="1.1999999999999994e+22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2761488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88493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463040" y="27340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UserService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962656" y="273405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Mocks, cadastro, busca por e-mail e lista de vendedores.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281928" y="2578608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5128813898325588e+193" dist="9.077288338995348e+192" dir="1.6839193280515925e+226">
              <a:srgbClr val="000000">
                <a:alpha val="1.1999999999999994e+23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3096" y="2761488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288493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086600" y="27340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SetupService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586216" y="273405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Lista, cria, edita, exclui e recomenda setups.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8368" y="3657600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9213593650873497e+197" dist="1.1528156190524093e+197" dir="1.0103515968309554e+231">
              <a:srgbClr val="000000">
                <a:alpha val="1.1999999999999992e+23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3840480"/>
            <a:ext cx="420624" cy="420624"/>
          </a:xfrm>
          <a:prstGeom prst="ellipse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9639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463040" y="3813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SimulationService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2962656" y="38130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simulado, pendência, criação e status de simulação.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281928" y="3657600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440126393660934e+201" dist="1.4640758361965598e+201" dir="6.062109580985733e+235">
              <a:srgbClr val="000000">
                <a:alpha val="1.1999999999999992e+24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83096" y="3840480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39639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7086600" y="3813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SellerAssignmentService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586216" y="38130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 uma simulação ao vendedor selecionado.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58368" y="4736592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0989605199493864e+205" dist="1.859376311969631e+205" dir="3.63726574859144e+240">
              <a:srgbClr val="000000">
                <a:alpha val="1.1999999999999991e+249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9536" y="4919472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50429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463040" y="48920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NotificationService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2962656" y="489204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simples para mensagens e evolução futura.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Models, mocks e persistência local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versão demonstrativa utiliza entidades tipadas, dados iniciais e localStorage para preservar o fluxo.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4800600" cy="4187952"/>
          </a:xfrm>
          <a:prstGeom prst="roundRect">
            <a:avLst>
              <a:gd name="adj" fmla="val 1528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9356798603357206e+209" dist="2.3614079162014313e+209" dir="2.182359449154864e+245">
              <a:srgbClr val="000000">
                <a:alpha val="1.1999999999999991e+25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10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Entidades principais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780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9232" y="2331720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4780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SolarSetup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081528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2278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99232" y="3081528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2278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PendingSimulation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9776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UserRole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9232" y="3831336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9776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864608"/>
            <a:ext cx="425196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114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Mocks iniciais: mock-users.config.ts e mock-setups.config.ts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989320" y="1554480"/>
            <a:ext cx="5486400" cy="4187952"/>
          </a:xfrm>
          <a:prstGeom prst="roundRect">
            <a:avLst>
              <a:gd name="adj" fmla="val 1528"/>
            </a:avLst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  <a:effectLst>
            <a:outerShdw sx="100000" sy="100000" kx="0" ky="0" algn="bl" rotWithShape="0" blurRad="4.9983134226263654e+213" dist="2.998988053575818e+213" dir="1.3094156694929184e+250">
              <a:srgbClr val="000000">
                <a:alpha val="1.1999999999999991e+25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18504" y="1847088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 como persistência central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10528" y="249631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4269E3"/>
          </a:solidFill>
          <a:ln w="12700">
            <a:solidFill>
              <a:srgbClr val="4269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60604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StorageService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778240" y="26060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 de acesso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510528" y="313639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24612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multifort_current_user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778240" y="324612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sessão atual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510528" y="377647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88620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simulações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778240" y="38862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e status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510528" y="441655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52628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8778240" y="45262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e setup recomendado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510528" y="521208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D9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Vantagem: facilita a demonstração sem infraestrutura externa.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D9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Cuidado: os dados podem ser apagados ao limpar o navegador.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Login, roles e guards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acesso às rotas é controlado pelo usuário logado e pela role principal, seguindo uma ordem de prioridade.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  <a:effectLst>
            <a:outerShdw sx="100000" sy="100000" kx="0" ky="0" algn="bl" rotWithShape="0" blurRad="6.347858046735484e+217" dist="3.808714828041289e+217" dir="7.85649401695751e+254">
              <a:srgbClr val="000000">
                <a:alpha val="1.199999999999999e+26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prioridade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51460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8.061779719354066e+221" dist="4.8370678316124365e+221" dir="4.713896410174506e+259">
              <a:srgbClr val="000000">
                <a:alpha val="1.1999999999999991e+26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919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7004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2432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Administração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0238460243579663e+226" dist="6.143076146147795e+225" dir="2.8283378461047036e+264">
              <a:srgbClr val="000000">
                <a:alpha val="1.199999999999999e+2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028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456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35508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3002844509346172e+230" dist="7.8017067056077e+229" dir="1.6970027076628222e+269">
              <a:srgbClr val="000000">
                <a:alpha val="1.199999999999999e+27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1967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052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VENDEDOR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480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Oportunidades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27532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6513612526869638e+234" dist="9.908167516121778e+233" dir="1.0182016245976934e+274">
              <a:srgbClr val="000000">
                <a:alpha val="1.199999999999999e+28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3991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3076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SECRETARIA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8504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Apoio administrativo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019556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097228790912444e+238" dist="1.2583372745474658e+238" dir="6.10920974758616e+278">
              <a:srgbClr val="000000">
                <a:alpha val="1.199999999999999e+28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36015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5100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0528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padrão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31520" y="3456432"/>
            <a:ext cx="3273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663480564458804e+242" dist="1.5980883386752816e+242" dir="3.6655258485516963e+283">
              <a:srgbClr val="000000">
                <a:alpha val="1.199999999999999e+29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173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authGuard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1832" y="4169664"/>
            <a:ext cx="2852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usuário logado.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Aplicação: Todas as áreas privadas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26280" y="3456432"/>
            <a:ext cx="3273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3826203168626813e+246" dist="2.0295721901176076e+246" dir="2.1993155091310177e+288">
              <a:srgbClr val="000000">
                <a:alpha val="1.199999999999999e+29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27448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adminGuard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736592" y="4169664"/>
            <a:ext cx="2852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DEV, ADMIN, GERENTE e SECRETARIA.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Aplicação: Painel administrativo e gestão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21040" y="3456432"/>
            <a:ext cx="3273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295927802415605e+250" dist="2.5775566814493618e+250" dir="1.3195893054786106e+293">
              <a:srgbClr val="000000">
                <a:alpha val="1.199999999999999e+304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22208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0684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sellerGuard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531352" y="4169664"/>
            <a:ext cx="2852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VENDEDOR.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Aplicação: Painel de oportunidades do vendedor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role principal é calculada com prioridade: DEV, ADMIN, GERENTE, VENDEDOR, SECRETARIA e USER.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de simulação e distribuição comercial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simulação pode começar antes do login e se tornar uma oportunidade atribuída após a autenticação.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455828309067819e+254" dist="3.2734969854406895e+254" dir="7.917535832871664e+297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7510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8026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49224" y="242316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PDF enviado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49224" y="267004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nome, tipo e tamanho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103120" y="2377440"/>
            <a:ext cx="320040" cy="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3160" y="3401568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6.928901952516129e+258" dist="4.1573411715096754e+258" dir="4.750521499722998e+302">
              <a:srgbClr val="000000">
                <a:alpha val="Infinity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6530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569464" y="399592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simulada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569464" y="4242816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setups retornados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023360" y="3950208"/>
            <a:ext cx="320040" cy="-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43400" y="1828800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8.799705479695485e+262" dist="5.279823287817288e+262" dir="2.850312899833799e+307">
              <a:srgbClr val="000000">
                <a:alpha val="Infinity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97510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08026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489704" y="242316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Seleção do setup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489704" y="267004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interesse do cliente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5943600" y="2377440"/>
            <a:ext cx="320040" cy="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3401568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1175625959213265e+267" dist="6.705375575527955e+266" dir="Infinity">
              <a:srgbClr val="000000">
                <a:alpha val="Infinity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6530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9944" y="399592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/ associação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409944" y="4242816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pendência vira simulação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863840" y="3950208"/>
            <a:ext cx="320040" cy="-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83880" y="1828800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4193044968200846e+271" dist="8.515826980920504e+270" dir="Infinity">
              <a:srgbClr val="000000">
                <a:alpha val="Infinity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197510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08026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8330184" y="242316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atribui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330184" y="267004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assignedSellerId + status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9784080" y="2377440"/>
            <a:ext cx="320040" cy="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04120" y="3401568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8025167109615074e+275" dist="1.081510026576904e+275" dir="Infinity">
              <a:srgbClr val="000000">
                <a:alpha val="Infinity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4128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0" y="36530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10250424" y="399592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Vendedor atende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10250424" y="4242816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somente seu próprio id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1874520" y="495604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5138928"/>
            <a:ext cx="7845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principal: o vendedor visualiza somente as simulações cujo assignedSellerId é igual ao próprio id.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Gerenciamento de setups e rotas principais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administrador controla as opções de energia solar, enquanto o Router organiza o acesso às páginas.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0749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2891962229211143e+279" dist="1.373517733752668e+279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099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64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09928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de setups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2221992"/>
            <a:ext cx="465429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Criar novos setups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Editar dados existentes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Excluir setups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Marcar uma opção como recomendada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Carregar mocks padrão quando não houver dados salvos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gestão alimenta a experiência de comparação exibida ao usuário.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9072792031098153e+283" dist="1.7443675218658885e+283" dir="Infinity">
              <a:srgbClr val="000000">
                <a:alpha val="Infinity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Rotas relevantes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2267712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36372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355080" y="2779776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875788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355080" y="329184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387852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/cadastro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355080" y="3803904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8999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/simulacao/upload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355080" y="4315968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41198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/simulacao/processando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778240" y="2267712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7968" y="236372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/simulacao/resultado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778240" y="2779776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87968" y="2875788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/painel/usuario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778240" y="329184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7968" y="3387852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/painel/admin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778240" y="3803904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38999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/painel/vendedor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778240" y="4315968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7968" y="441198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/admin/setups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atuais e próximos passos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versão atual é um protótipo funcional de frontend. A evolução natural envolve a integração com serviços reais.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6922445879494656e+287" dist="2.2153467527696782e+287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105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44168" y="175564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da versão atual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267712"/>
            <a:ext cx="48371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Não há backend ou banco de dados real.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Autenticação é simulada.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PDF não é lido nem processado de verdade.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simulações são baseadas em mocks.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podem ser apagados quando o usuário limpa o navegador.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6891506266958215e+291" dist="2.8134903760174914e+291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8105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175564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passos sugeridos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73952" y="2267712"/>
            <a:ext cx="48371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para usuários, setups e simulações.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Banco de dados e autenticação real.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Extração de dados da fatura por parsing/OCR.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Regras reais de dimensionamento e economia.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Notificações, auditoria e acompanhamento comercial.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868680" y="60350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já está preparada para evoluir: os services e entidades separam as responsabilidades de forma que a troca de mocks por integrações reais seja gradual.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189281" cy="189281"/>
          </a:xfrm>
          <a:prstGeom prst="sun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6734" y="497662"/>
            <a:ext cx="147218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5" b="1" dirty="0">
                <a:solidFill>
                  <a:srgbClr val="2D5B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Multifort</a:t>
            </a:r>
            <a:endParaRPr lang="en-US" sz="1495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Multifort Interativo transforma uma simulação em uma jornada comercial organizada.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40156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5387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 finalizada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31596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49440" y="1417320"/>
            <a:ext cx="4389120" cy="804672"/>
          </a:xfrm>
          <a:prstGeom prst="roundRect">
            <a:avLst>
              <a:gd name="adj" fmla="val 7955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  <a:effectLst>
            <a:outerShdw sx="100000" sy="100000" kx="0" ky="0" algn="bl" rotWithShape="0" blurRad="5.955221295903693e+295" dist="3.573132777542214e+295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05472" y="1627632"/>
            <a:ext cx="347472" cy="34747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6002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22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818120" y="183794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standalone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949440" y="2578608"/>
            <a:ext cx="4389120" cy="804672"/>
          </a:xfrm>
          <a:prstGeom prst="roundRect">
            <a:avLst>
              <a:gd name="adj" fmla="val 7955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  <a:effectLst>
            <a:outerShdw sx="100000" sy="100000" kx="0" ky="0" algn="bl" rotWithShape="0" blurRad="7.56313104579769e+299" dist="4.537878627478612e+299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05472" y="2788920"/>
            <a:ext cx="347472" cy="347472"/>
          </a:xfrm>
          <a:prstGeom prst="ellipse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7614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Mocks + localStorage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818120" y="29992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 sem backend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949440" y="3739896"/>
            <a:ext cx="4389120" cy="804672"/>
          </a:xfrm>
          <a:prstGeom prst="roundRect">
            <a:avLst>
              <a:gd name="adj" fmla="val 7955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  <a:effectLst>
            <a:outerShdw sx="100000" sy="100000" kx="0" ky="0" algn="bl" rotWithShape="0" blurRad="9.605176428163068e+303" dist="5.763105856897837e+303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05472" y="3950208"/>
            <a:ext cx="347472" cy="34747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9227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perfis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818120" y="416052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Cliente, vendedor e admin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Multifort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Multifort Interativo</dc:title>
  <dc:subject>Apresentação do projeto Multifort Interativo</dc:subject>
  <dc:creator>OpenAI</dc:creator>
  <cp:lastModifiedBy>OpenAI</cp:lastModifiedBy>
  <cp:revision>1</cp:revision>
  <dcterms:created xsi:type="dcterms:W3CDTF">2026-07-06T00:07:25Z</dcterms:created>
  <dcterms:modified xsi:type="dcterms:W3CDTF">2026-07-06T00:07:25Z</dcterms:modified>
</cp:coreProperties>
</file>